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Google Sans Flex Medium"/>
      <p:regular r:id="rId21"/>
      <p:bold r:id="rId22"/>
    </p:embeddedFont>
    <p:embeddedFont>
      <p:font typeface="Google Sans Flex"/>
      <p:regular r:id="rId23"/>
      <p:bold r:id="rId24"/>
    </p:embeddedFont>
    <p:embeddedFont>
      <p:font typeface="Google Sans Flex SemiBold"/>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font" Target="fonts/GoogleSansFlexMedium-regular.fntdata"/><Relationship Id="rId22" Type="http://schemas.openxmlformats.org/officeDocument/2006/relationships/font" Target="fonts/GoogleSansFlexMedium-bold.fntdata"/><Relationship Id="rId23" Type="http://schemas.openxmlformats.org/officeDocument/2006/relationships/font" Target="fonts/GoogleSansFlex-regular.fntdata"/><Relationship Id="rId24" Type="http://schemas.openxmlformats.org/officeDocument/2006/relationships/font" Target="fonts/GoogleSansFlex-bold.fntdata"/><Relationship Id="rId25" Type="http://schemas.openxmlformats.org/officeDocument/2006/relationships/font" Target="fonts/GoogleSansFlexSemiBold-regular.fntdata"/><Relationship Id="rId26" Type="http://schemas.openxmlformats.org/officeDocument/2006/relationships/font" Target="fonts/GoogleSansFlexSemiBold-bold.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Masked before storage (%)</c:v>
                </c:pt>
              </c:strCache>
            </c:strRef>
          </c:tx>
          <c:spPr>
            <a:solidFill>
              <a:srgbClr val="1F3A7A"/>
            </a:solidFill>
          </c:spPr>
          <c:cat>
            <c:strRef>
              <c:f>Sheet1!$A$2:$A$6</c:f>
              <c:strCache>
                <c:ptCount val="5"/>
                <c:pt idx="0">
                  <c:v>Email</c:v>
                </c:pt>
                <c:pt idx="1">
                  <c:v>Card (valid)</c:v>
                </c:pt>
                <c:pt idx="2">
                  <c:v>IBAN</c:v>
                </c:pt>
                <c:pt idx="3">
                  <c:v>National ID</c:v>
                </c:pt>
                <c:pt idx="4">
                  <c:v>Phone</c:v>
                </c:pt>
              </c:strCache>
            </c:strRef>
          </c:cat>
          <c:val>
            <c:numRef>
              <c:f>Sheet1!$B$2:$B$6</c:f>
              <c:numCache>
                <c:formatCode>General</c:formatCode>
                <c:ptCount val="5"/>
                <c:pt idx="0">
                  <c:v>100</c:v>
                </c:pt>
                <c:pt idx="1">
                  <c:v>100</c:v>
                </c:pt>
                <c:pt idx="2">
                  <c:v>99.9</c:v>
                </c:pt>
                <c:pt idx="3">
                  <c:v>99.9</c:v>
                </c:pt>
                <c:pt idx="4">
                  <c:v>94.6</c:v>
                </c:pt>
              </c:numCache>
            </c:numRef>
          </c:val>
        </c:ser>
        <c:dLbls>
          <c:numFmt formatCode="0.0&quot;%&quot;" sourceLinked="0"/>
          <c:txPr>
            <a:bodyPr/>
            <a:lstStyle/>
            <a:p>
              <a:pPr>
                <a:defRPr b="1">
                  <a:solidFill>
                    <a:srgbClr val="FFFFFF"/>
                  </a:solidFill>
                </a:defRPr>
              </a:pPr>
            </a:p>
          </c:txPr>
          <c:dLblPos val="in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noFill/>
          </a:ln>
        </c:spPr>
        <c:crossAx val="-2113994440"/>
        <c:crosses val="autoZero"/>
        <c:auto val="1"/>
        <c:lblAlgn val="ctr"/>
        <c:lblOffset val="100"/>
        <c:noMultiLvlLbl val="0"/>
      </c:catAx>
      <c:valAx>
        <c:axId val="-2113994440"/>
        <c:scaling>
          <c:max val="100.0"/>
          <c:min val="80.0"/>
        </c:scaling>
        <c:delete/>
        <c:axPos val="b"/>
        <c:majorTickMark val="out"/>
        <c:minorTickMark val="none"/>
        <c:tickLblPos val="nextTo"/>
        <c:crossAx val="-2068027336"/>
        <c:crosses val="autoZero"/>
      </c:valAx>
    </c:plotArea>
    <c:dispBlanksAs val="gap"/>
  </c:chart>
  <c:txPr>
    <a:bodyPr/>
    <a:lstStyle/>
    <a:p>
      <a:pPr>
        <a:defRPr sz="800">
          <a:latin typeface="Google Sans Flex"/>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Team Agamya: Siddhi Pandirkar (team leader) and Sumit Jadhav. Problem statement: Future of Work and Enterprise Productivity.</a:t>
            </a:r>
          </a:p>
          <a:p>
            <a:r>
              <a:t>Agamya (Sanskrit: "hard to reach") captures the judgment experts carry in their heads and hands, and passes it on, with the reason, to people and to AI agents.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SAY: When an expert leaves, the why leaves with them, and it has happened for centuries.</a:t>
            </a:r>
          </a:p>
          <a:p>
            <a:r>
              <a:t>- Bengal muslin was among the finest cloths ever made, spun from phuti karpas cotton. The cotton and the skills are lost. A popular story says weavers' thumbs were cut off. We present that as legend: it goes back to a 1772 account by William Bolts. The documented decline is economic: tariffs on Bengal cloth in England, and cheap machine-made Lancashire cotton in Bengal.</a:t>
            </a:r>
          </a:p>
          <a:p>
            <a:r>
              <a:t>- In 2013 the People's Linguistic Survey of India traced India's only known Majhi speaker, Thak Bahadur Majhi, 80, in Sikkim. His language has 15 words for river. Majhi is still spoken in Nepal, where Nepali is replacing it.</a:t>
            </a:r>
          </a:p>
          <a:p>
            <a:r>
              <a:t>- In Japan, the registered traditional-craft workforce fell from about 288,000 in 1979 to 48,334 in fiscal 2022 (association data, as reported).</a:t>
            </a:r>
          </a:p>
          <a:p>
            <a:r>
              <a:t>- In companies, Panopto's 2018 survey found 42% of institutional knowledge is unique to the employee in their role.</a:t>
            </a:r>
          </a:p>
          <a:p>
            <a:r>
              <a:t>Agamya captures the why while the expert works, and passes it on to people and AI agents.</a:t>
            </a:r>
          </a:p>
          <a:p/>
          <a:p>
            <a:r>
              <a:t>REFERENCES</a:t>
            </a:r>
          </a:p>
          <a:p>
            <a:r>
              <a:t>[1] The Daily Star (2026), "What Bengal made and let others claim". https://www.thedailystar.net/supplements-0/news/what-bengal-made-and-let-others-claim-4217271 ; Wikipedia, "Dhaka muslin". https://en.wikipedia.org/wiki/Dhaka_muslin</a:t>
            </a:r>
          </a:p>
          <a:p>
            <a:r>
              <a:t>[2] A. Chakravartty, "Survey tracks down only speaker of Majhi in India", Down To Earth, 6 Sep 2013. https://www.downtoearth.org.in/amp/story/environment/survey-tracks-down-only-speaker-of-majhi-in-india-42123 ; Wikipedia, "Majhi language". https://en.wikipedia.org/wiki/Majhi_language</a:t>
            </a:r>
          </a:p>
          <a:p>
            <a:r>
              <a:t>[3] Garland Magazine (2026), "Kimono and lacquerware sales down up to 90 per cent as Japan's craft base narrows", citing the Association for the Promotion of Traditional Craft Industries. https://garlandmag.com/kimono-and-lacquerware-sales-down-up-to-90-per-cent-as-japans-craft-base-narrows/ ; NPR/WFAE (29 Jul 2022), "Japan's traditional crafts are struggling to survive the country's population decline". https://www.wfae.org/2022-07-29/japans-traditional-crafts-are-struggling-to-survive-the-countrys-population-decline</a:t>
            </a:r>
          </a:p>
          <a:p>
            <a:r>
              <a:t>[4] Panopto Workplace Knowledge and Productivity Report (2018), via HR Dive. https://www.hrdive.com/news/inefficient-knowledge-sharing-costs-large-us-businesses-47m-a-year/527892/</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Different: existing tools record what was clicked or answer from documents. Agamya asks why at the right moment, keeps the expert's exact words (or labels anything else AI-inferred), lets people practise with a tutor that stops mistakes, and turns the same judgment into machine-checkable guardrails for AI agents.</a:t>
            </a:r>
          </a:p>
          <a:p>
            <a:r>
              <a:t>Solves: capture, understand, confirm, transfer, measure, in one loop that takes minutes of the expert's time.</a:t>
            </a:r>
          </a:p>
          <a:p>
            <a:r>
              <a:t>USP: one confirmed judgment becomes a lesson, a live tutor and an agent guardrail.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1 Live capture with Moti (Gemini Live): screen or camera, voice; asks at natural pauses, at least one guardrail question; off the record at any time.</a:t>
            </a:r>
          </a:p>
          <a:p>
            <a:r>
              <a:t>2 Work Map: steps, screen moment, decision, the reason in the expert's own verified words, guardrails, open questions.</a:t>
            </a:r>
          </a:p>
          <a:p>
            <a:r>
              <a:t>3 Practise with a tutor: camera (also on phones) or screen; Moti stops a wrong decision and shows how the expert did it.</a:t>
            </a:r>
          </a:p>
          <a:p>
            <a:r>
              <a:t>4 Listen: the map as a spoken lesson in 15 languages (Gemini TTS).</a:t>
            </a:r>
          </a:p>
          <a:p>
            <a:r>
              <a:t>5 AI Guardian: STOP / ASK / PROCEED / NOT_COVERED for a proposed action, through REST, MCP or a Google ADK agent on Vertex AI Agent Engine.</a:t>
            </a:r>
          </a:p>
          <a:p>
            <a:r>
              <a:t>6 Ask: answers only from confirmed maps shared with you, quoting the expert.</a:t>
            </a:r>
          </a:p>
          <a:p>
            <a:r>
              <a:t>7 Confirm and share: the expert approves, then shares with the space, groups or people; others can request access.</a:t>
            </a:r>
          </a:p>
          <a:p>
            <a:r>
              <a:t>8 Impact: measured from records.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expert works as usual; Moti asks why at a pause; Agamya builds the Work Map; a short debrief where Moti explains it back; the expert confirms and chooses who learns. Then the same map powers practice, listening and Ask, and AI agent checks. Impact is measured from the records.</a:t>
            </a:r>
          </a:p>
          <a:p>
            <a:r>
              <a:t>Use cases: Work (accounts payable, IT runbooks, escalations, a retiring specialist) and Culture (dance, weaving, recipes, languages).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Instead of wireframes, these are screens of the deployed prototype: consent, live capture, Work Map, confirm and share, practice. Bottom: phone layout and a Culture session in Marathi.</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Browser: screen, camera and mic; only changed frames, at most one per second.</a:t>
            </a:r>
          </a:p>
          <a:p>
            <a:r>
              <a:t>Cloud Run: REST API, Gemini Live WebSocket relay (1 h timeout, session affinity), job worker, Agent API (REST + MCP).</a:t>
            </a:r>
          </a:p>
          <a:p>
            <a:r>
              <a:t>Vertex AI: Gemini Live native audio (Moti), Gemini 2.5 Flash with JSON schemas (Work Maps, tutor stops, agent checks, Ask, narration scripts), Gemini TTS, Agent Engine hosting the Google ADK Guardian.</a:t>
            </a:r>
          </a:p>
          <a:p>
            <a:r>
              <a:t>Data: Cloud SQL PostgreSQL with Row-Level Security per space, a private Cloud Storage bucket, Secret Manager.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Google Cloud: Gemini Live API, Gemini 2.5 Flash, Gemini TTS, Vertex AI Agent Engine with ADK, Cloud Run, Cloud SQL, Cloud Storage, Secret Manager, Cloud Build, Artifact Registry, Cloud Logging. Other: Node.js 24, Fastify, plain JavaScript, Web Audio, MCP, PGlite for local development, axe-core and Playwright for testing.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Measured: building a Work Map with Gemini 2.5 Flash, 50 builds for $0.23 (about half a cent each). Estimates at list prices: a 10-minute live capture is about 10 to 20 cents; narration about 1 cent per language; an agent check under a tenth of a cent; Cloud SQL plus storage about $10 to 15 a month for a pilot. Example: 20 workflows of 30 minutes, under $15 of AI (estimate).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Top: photos from real sessions (a JMeter knowledge transfer before maternity leave; a Satara recipe taught in Marathi; the learner practising with Moti). Bottom: the deployed prototype: live capture, Work Map, tutor stopping a mistake in Hindi.</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Measured results:</a:t>
            </a:r>
          </a:p>
          <a:p>
            <a:r>
              <a:t>- 176 of 176 automated tests pass; 22 of 22 end-to-end checks pass on the deployed app.</a:t>
            </a:r>
          </a:p>
          <a:p>
            <a:r>
              <a:t>- Moti asks about 2 seconds after the expert pauses; the tutor stops a wrong decision in about 1.6 seconds (Hindi, Kannada, English). Small sample of live sessions.</a:t>
            </a:r>
          </a:p>
          <a:p>
            <a:r>
              <a:t>- YouCook2 (25 recipes, 212 steps): 100% of steps covered, 0% invented evidence, 100% in order. Silent videos: 1 quote claimed, 0 verified; narrated videos: 3 claimed, 3 verified. 50 calls cost $0.23.</a:t>
            </a:r>
          </a:p>
          <a:p>
            <a:r>
              <a:t>- Masking on ai4privacy (43,501 sentences): email 100%, valid cards 100%, IBAN 99.9%, national ID 99.9%, phone 94.6%; amounts and dates unchanged.</a:t>
            </a:r>
          </a:p>
          <a:p>
            <a:r>
              <a:t>Datasets: YouCook2 (http://youcook2.eecs.umich.edu/); ai4privacy pii-masking-200k (https://huggingface.co/datasets/ai4privacy/pii-masking-200k).</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Future development (planned, not built): two experts on one map, native-speaker review of narration, Workspace sign-in, exporting guardrails to agent platforms, on-device masking, alerts when a confirmed rule changes, an opt-in culture archive with community consent, partnerships with craft associations and language surveys, practice paths for regulated roles. The Inspiration page in the app tells the story behind Agamya, with sources.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GitHub: https://github.com/S-D-P/Agamya-AI-Builder-Cup-26</a:t>
            </a:r>
          </a:p>
          <a:p>
            <a:r>
              <a:t>Demo video: (add link)</a:t>
            </a:r>
          </a:p>
          <a:p>
            <a:r>
              <a:t>Product: https://agamya-82538920788.us-central1.run.app</a:t>
            </a:r>
          </a:p>
          <a:p>
            <a:r>
              <a:t>Judge accounts (public by design, test data only): judge.work@agamya.example and judge.culture@agamya.example, password agamya-judges-2026.</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[1] https://www.thedailystar.net/supplements-0/news/what-bengal-made-and-let-others-claim-4217271 ; https://en.wikipedia.org/wiki/Dhaka_muslin</a:t>
            </a:r>
          </a:p>
          <a:p>
            <a:r>
              <a:t>[2] https://www.downtoearth.org.in/amp/story/environment/survey-tracks-down-only-speaker-of-majhi-in-india-42123 ; https://en.wikipedia.org/wiki/Majhi_language</a:t>
            </a:r>
          </a:p>
          <a:p>
            <a:r>
              <a:t>[3] https://garlandmag.com/kimono-and-lacquerware-sales-down-up-to-90-per-cent-as-japans-craft-base-narrows/ ; https://www.wfae.org/2022-07-29/japans-traditional-crafts-are-struggling-to-survive-the-countrys-population-decline</a:t>
            </a:r>
          </a:p>
          <a:p>
            <a:r>
              <a:t>[4] https://www.hrdive.com/news/inefficient-knowledge-sharing-costs-large-us-businesses-47m-a-year/527892/</a:t>
            </a:r>
          </a:p>
          <a:p>
            <a:r>
              <a:t>[5] Michael Polanyi, The Tacit Dimension, 1966.</a:t>
            </a:r>
          </a:p>
          <a:p>
            <a:r>
              <a:t>[6] http://youcook2.eecs.umich.edu/ ; https://huggingface.co/datasets/ai4privacy/pii-masking-200k</a:t>
            </a:r>
          </a:p>
          <a:p>
            <a:r>
              <a:t>All accessed 18 Oct 2026.</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Thank you. Agamya: show it once, confirm it, pass it on, without losing why.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5.jpg"/><Relationship Id="rId5"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image" Target="../media/image13.png"/><Relationship Id="rId12"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5.png"/><Relationship Id="rId6" Type="http://schemas.openxmlformats.org/officeDocument/2006/relationships/image" Target="../media/image10.png"/><Relationship Id="rId7"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3.png"/><Relationship Id="rId9" Type="http://schemas.openxmlformats.org/officeDocument/2006/relationships/image" Target="../media/image15.png"/><Relationship Id="rId10" Type="http://schemas.openxmlformats.org/officeDocument/2006/relationships/image" Target="../media/image19.jpg"/><Relationship Id="rId11" Type="http://schemas.openxmlformats.org/officeDocument/2006/relationships/image" Target="../media/image20.jpg"/><Relationship Id="rId12" Type="http://schemas.openxmlformats.org/officeDocument/2006/relationships/image" Target="../media/image2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2.jpg"/><Relationship Id="rId6" Type="http://schemas.openxmlformats.org/officeDocument/2006/relationships/image" Target="../media/image23.jpg"/><Relationship Id="rId7" Type="http://schemas.openxmlformats.org/officeDocument/2006/relationships/image" Target="../media/image24.jp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hyperlink" Target="https://github.com/S-D-P/Agamya-AI-Builder-Cup-26" TargetMode="External"/><Relationship Id="rId6" Type="http://schemas.openxmlformats.org/officeDocument/2006/relationships/hyperlink" Target="https://agamya-82538920788.us-central1.run.app"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name: Agamya</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leader name: Siddhi Pandirkar</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member: Sumit Jadhav</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Problem Statement: Future of Work &amp; Enterprise Productivity</a:t>
            </a:r>
            <a:endParaRPr sz="1800">
              <a:latin typeface="Google Sans Flex"/>
              <a:ea typeface="Google Sans Flex"/>
              <a:cs typeface="Google Sans Flex"/>
              <a:sym typeface="Google Sans Flex"/>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62" name="Google Shape;62;p1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64" name="TextBox 63"/>
          <p:cNvSpPr txBox="1"/>
          <p:nvPr/>
        </p:nvSpPr>
        <p:spPr>
          <a:xfrm>
            <a:off x="274320" y="1170432"/>
            <a:ext cx="8595360" cy="310896"/>
          </a:xfrm>
          <a:prstGeom prst="rect">
            <a:avLst/>
          </a:prstGeom>
          <a:noFill/>
        </p:spPr>
        <p:txBody>
          <a:bodyPr wrap="square" anchor="t" lIns="18288" rIns="18288" tIns="18288" bIns="18288">
            <a:spAutoFit/>
          </a:bodyPr>
          <a:lstStyle/>
          <a:p>
            <a:pPr algn="l"/>
            <a:r>
              <a:rPr sz="1500" b="1" i="0">
                <a:solidFill>
                  <a:srgbClr val="1A1A1A"/>
                </a:solidFill>
                <a:latin typeface="Google Sans Flex"/>
              </a:rPr>
              <a:t>When an expert leaves, the </a:t>
            </a:r>
            <a:r>
              <a:rPr sz="1500" b="1" i="1">
                <a:solidFill>
                  <a:srgbClr val="B31B2E"/>
                </a:solidFill>
                <a:latin typeface="Google Sans Flex"/>
              </a:rPr>
              <a:t>why</a:t>
            </a:r>
            <a:r>
              <a:rPr sz="1500" b="1" i="0">
                <a:solidFill>
                  <a:srgbClr val="1A1A1A"/>
                </a:solidFill>
                <a:latin typeface="Google Sans Flex"/>
              </a:rPr>
              <a:t> leaves with them. It has happened for centuries.</a:t>
            </a:r>
          </a:p>
        </p:txBody>
      </p:sp>
      <p:sp>
        <p:nvSpPr>
          <p:cNvPr id="65" name="Rounded Rectangle 64"/>
          <p:cNvSpPr/>
          <p:nvPr/>
        </p:nvSpPr>
        <p:spPr>
          <a:xfrm>
            <a:off x="274320" y="1572768"/>
            <a:ext cx="2048256" cy="1298448"/>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274320" y="1572768"/>
            <a:ext cx="64008" cy="1298448"/>
          </a:xfrm>
          <a:prstGeom prst="rect">
            <a:avLst/>
          </a:prstGeom>
          <a:solidFill>
            <a:srgbClr val="B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420623" y="1627632"/>
            <a:ext cx="1828800" cy="1371600"/>
          </a:xfrm>
          <a:prstGeom prst="rect">
            <a:avLst/>
          </a:prstGeom>
          <a:noFill/>
        </p:spPr>
        <p:txBody>
          <a:bodyPr wrap="square" anchor="t" lIns="18288" rIns="18288" tIns="18288" bIns="18288">
            <a:spAutoFit/>
          </a:bodyPr>
          <a:lstStyle/>
          <a:p>
            <a:pPr algn="l">
              <a:spcAft>
                <a:spcPts val="300"/>
              </a:spcAft>
            </a:pPr>
            <a:r>
              <a:rPr sz="1050" b="1" i="0">
                <a:solidFill>
                  <a:srgbClr val="B31B2E"/>
                </a:solidFill>
                <a:latin typeface="Google Sans Flex"/>
              </a:rPr>
              <a:t>Bengal, muslin</a:t>
            </a:r>
          </a:p>
          <a:p>
            <a:pPr algn="l">
              <a:spcAft>
                <a:spcPts val="300"/>
              </a:spcAft>
            </a:pPr>
            <a:r>
              <a:rPr sz="900" b="0" i="0">
                <a:solidFill>
                  <a:srgbClr val="1A1A1A"/>
                </a:solidFill>
                <a:latin typeface="Google Sans Flex"/>
              </a:rPr>
              <a:t>One of history's finest cloths, spun from phuti karpas cotton. The cotton and the skills are gone.</a:t>
            </a:r>
          </a:p>
          <a:p>
            <a:pPr algn="l">
              <a:spcAft>
                <a:spcPts val="300"/>
              </a:spcAft>
            </a:pPr>
            <a:r>
              <a:rPr sz="750" b="0" i="1">
                <a:solidFill>
                  <a:srgbClr val="5F6368"/>
                </a:solidFill>
                <a:latin typeface="Google Sans Flex"/>
              </a:rPr>
              <a:t>The "cut thumbs" story is legend; the record shows tariffs and machine-made imports. [1]</a:t>
            </a:r>
          </a:p>
        </p:txBody>
      </p:sp>
      <p:sp>
        <p:nvSpPr>
          <p:cNvPr id="68" name="Rounded Rectangle 67"/>
          <p:cNvSpPr/>
          <p:nvPr/>
        </p:nvSpPr>
        <p:spPr>
          <a:xfrm>
            <a:off x="2459736" y="1572768"/>
            <a:ext cx="2048256" cy="1298448"/>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2459736" y="1572768"/>
            <a:ext cx="64008" cy="1298448"/>
          </a:xfrm>
          <a:prstGeom prst="rect">
            <a:avLst/>
          </a:prstGeom>
          <a:solidFill>
            <a:srgbClr val="1F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2606040" y="1627632"/>
            <a:ext cx="1828800" cy="1371600"/>
          </a:xfrm>
          <a:prstGeom prst="rect">
            <a:avLst/>
          </a:prstGeom>
          <a:noFill/>
        </p:spPr>
        <p:txBody>
          <a:bodyPr wrap="square" anchor="t" lIns="18288" rIns="18288" tIns="18288" bIns="18288">
            <a:spAutoFit/>
          </a:bodyPr>
          <a:lstStyle/>
          <a:p>
            <a:pPr algn="l">
              <a:spcAft>
                <a:spcPts val="300"/>
              </a:spcAft>
            </a:pPr>
            <a:r>
              <a:rPr sz="1050" b="1" i="0">
                <a:solidFill>
                  <a:srgbClr val="1F3A7A"/>
                </a:solidFill>
                <a:latin typeface="Google Sans Flex"/>
              </a:rPr>
              <a:t>Sikkim, Majhi (माझी)</a:t>
            </a:r>
          </a:p>
          <a:p>
            <a:pPr algn="l">
              <a:spcAft>
                <a:spcPts val="300"/>
              </a:spcAft>
            </a:pPr>
            <a:r>
              <a:rPr sz="900" b="0" i="0">
                <a:solidFill>
                  <a:srgbClr val="1A1A1A"/>
                </a:solidFill>
                <a:latin typeface="Google Sans Flex"/>
              </a:rPr>
              <a:t>2013: India's last known speaker, Thak Bahadur Majhi, aged 80. Majhi has 15 words for river.</a:t>
            </a:r>
          </a:p>
          <a:p>
            <a:pPr algn="l">
              <a:spcAft>
                <a:spcPts val="300"/>
              </a:spcAft>
            </a:pPr>
            <a:r>
              <a:rPr sz="750" b="0" i="1">
                <a:solidFill>
                  <a:srgbClr val="5F6368"/>
                </a:solidFill>
                <a:latin typeface="Google Sans Flex"/>
              </a:rPr>
              <a:t>Still spoken in Nepal, where Nepali is replacing it. [2]</a:t>
            </a:r>
          </a:p>
        </p:txBody>
      </p:sp>
      <p:sp>
        <p:nvSpPr>
          <p:cNvPr id="71" name="Rounded Rectangle 70"/>
          <p:cNvSpPr/>
          <p:nvPr/>
        </p:nvSpPr>
        <p:spPr>
          <a:xfrm>
            <a:off x="4645152" y="1572768"/>
            <a:ext cx="2048256" cy="1298448"/>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4645152" y="1572768"/>
            <a:ext cx="64008" cy="12984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4791456" y="1627632"/>
            <a:ext cx="1828800" cy="1371600"/>
          </a:xfrm>
          <a:prstGeom prst="rect">
            <a:avLst/>
          </a:prstGeom>
          <a:noFill/>
        </p:spPr>
        <p:txBody>
          <a:bodyPr wrap="square" anchor="t" lIns="18288" rIns="18288" tIns="18288" bIns="18288">
            <a:spAutoFit/>
          </a:bodyPr>
          <a:lstStyle/>
          <a:p>
            <a:pPr algn="l">
              <a:spcAft>
                <a:spcPts val="300"/>
              </a:spcAft>
            </a:pPr>
            <a:r>
              <a:rPr sz="1050" b="1" i="0">
                <a:solidFill>
                  <a:srgbClr val="B8860B"/>
                </a:solidFill>
                <a:latin typeface="Google Sans Flex"/>
              </a:rPr>
              <a:t>Japan, traditional crafts</a:t>
            </a:r>
          </a:p>
          <a:p>
            <a:pPr algn="l">
              <a:spcAft>
                <a:spcPts val="300"/>
              </a:spcAft>
            </a:pPr>
            <a:r>
              <a:rPr sz="900" b="0" i="0">
                <a:solidFill>
                  <a:srgbClr val="1A1A1A"/>
                </a:solidFill>
                <a:latin typeface="Google Sans Flex"/>
              </a:rPr>
              <a:t>Registered craft workers: about 288,000 (1979) to 48,334 (FY2022).</a:t>
            </a:r>
          </a:p>
          <a:p>
            <a:pPr algn="l">
              <a:spcAft>
                <a:spcPts val="300"/>
              </a:spcAft>
            </a:pPr>
            <a:r>
              <a:rPr sz="750" b="0" i="1">
                <a:solidFill>
                  <a:srgbClr val="5F6368"/>
                </a:solidFill>
                <a:latin typeface="Google Sans Flex"/>
              </a:rPr>
              <a:t>In Kanazawa, craft families close for lack of successors. [3]</a:t>
            </a:r>
          </a:p>
        </p:txBody>
      </p:sp>
      <p:sp>
        <p:nvSpPr>
          <p:cNvPr id="74" name="Rounded Rectangle 73"/>
          <p:cNvSpPr/>
          <p:nvPr/>
        </p:nvSpPr>
        <p:spPr>
          <a:xfrm>
            <a:off x="6830568" y="1572768"/>
            <a:ext cx="2048256" cy="1298448"/>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6830568" y="1572768"/>
            <a:ext cx="64008" cy="1298448"/>
          </a:xfrm>
          <a:prstGeom prst="rect">
            <a:avLst/>
          </a:prstGeom>
          <a:solidFill>
            <a:srgbClr val="1E7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6976872" y="1627632"/>
            <a:ext cx="1828800" cy="1371600"/>
          </a:xfrm>
          <a:prstGeom prst="rect">
            <a:avLst/>
          </a:prstGeom>
          <a:noFill/>
        </p:spPr>
        <p:txBody>
          <a:bodyPr wrap="square" anchor="t" lIns="18288" rIns="18288" tIns="18288" bIns="18288">
            <a:spAutoFit/>
          </a:bodyPr>
          <a:lstStyle/>
          <a:p>
            <a:pPr algn="l">
              <a:spcAft>
                <a:spcPts val="300"/>
              </a:spcAft>
            </a:pPr>
            <a:r>
              <a:rPr sz="1050" b="1" i="0">
                <a:solidFill>
                  <a:srgbClr val="1E7A4C"/>
                </a:solidFill>
                <a:latin typeface="Google Sans Flex"/>
              </a:rPr>
              <a:t>Every company</a:t>
            </a:r>
          </a:p>
          <a:p>
            <a:pPr algn="l">
              <a:spcAft>
                <a:spcPts val="300"/>
              </a:spcAft>
            </a:pPr>
            <a:r>
              <a:rPr sz="900" b="0" i="0">
                <a:solidFill>
                  <a:srgbClr val="1A1A1A"/>
                </a:solidFill>
                <a:latin typeface="Google Sans Flex"/>
              </a:rPr>
              <a:t>42% of institutional knowledge is unique to the employee in their role.</a:t>
            </a:r>
          </a:p>
          <a:p>
            <a:pPr algn="l">
              <a:spcAft>
                <a:spcPts val="300"/>
              </a:spcAft>
            </a:pPr>
            <a:r>
              <a:rPr sz="750" b="0" i="1">
                <a:solidFill>
                  <a:srgbClr val="5F6368"/>
                </a:solidFill>
                <a:latin typeface="Google Sans Flex"/>
              </a:rPr>
              <a:t>Panopto survey, 2018. [4]</a:t>
            </a:r>
          </a:p>
        </p:txBody>
      </p:sp>
      <p:sp>
        <p:nvSpPr>
          <p:cNvPr id="77" name="Rounded Rectangle 76"/>
          <p:cNvSpPr/>
          <p:nvPr/>
        </p:nvSpPr>
        <p:spPr>
          <a:xfrm>
            <a:off x="274320" y="2999232"/>
            <a:ext cx="4709160" cy="1691640"/>
          </a:xfrm>
          <a:prstGeom prst="roundRect">
            <a:avLst>
              <a:gd name="adj" fmla="val 8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438912" y="3090672"/>
            <a:ext cx="4434840" cy="1481328"/>
          </a:xfrm>
          <a:prstGeom prst="rect">
            <a:avLst/>
          </a:prstGeom>
          <a:noFill/>
        </p:spPr>
        <p:txBody>
          <a:bodyPr wrap="square" anchor="t" lIns="18288" rIns="18288" tIns="18288" bIns="18288">
            <a:spAutoFit/>
          </a:bodyPr>
          <a:lstStyle/>
          <a:p>
            <a:pPr algn="l">
              <a:spcAft>
                <a:spcPts val="400"/>
              </a:spcAft>
            </a:pPr>
            <a:r>
              <a:rPr sz="1400" b="1" i="0">
                <a:solidFill>
                  <a:srgbClr val="FFFFFF"/>
                </a:solidFill>
                <a:latin typeface="Google Sans Flex"/>
              </a:rPr>
              <a:t>Agamya</a:t>
            </a:r>
            <a:r>
              <a:rPr sz="1100" b="0" i="0">
                <a:solidFill>
                  <a:srgbClr val="E8DFD0"/>
                </a:solidFill>
                <a:latin typeface="Google Sans Flex"/>
              </a:rPr>
              <a:t>  captures the why, live, and passes it on</a:t>
            </a:r>
          </a:p>
          <a:p>
            <a:pPr algn="l">
              <a:spcAft>
                <a:spcPts val="400"/>
              </a:spcAft>
            </a:pPr>
            <a:r>
              <a:rPr sz="1000" b="1" i="0">
                <a:solidFill>
                  <a:srgbClr val="B8860B"/>
                </a:solidFill>
                <a:latin typeface="Google Sans Flex"/>
              </a:rPr>
              <a:t>1  </a:t>
            </a:r>
            <a:r>
              <a:rPr sz="950" b="0" i="0">
                <a:solidFill>
                  <a:srgbClr val="FFFFFF"/>
                </a:solidFill>
                <a:latin typeface="Google Sans Flex"/>
              </a:rPr>
              <a:t>The expert works as usual, on screen or camera. </a:t>
            </a:r>
            <a:r>
              <a:rPr sz="950" b="1" i="0">
                <a:solidFill>
                  <a:srgbClr val="FFFFFF"/>
                </a:solidFill>
                <a:latin typeface="Google Sans Flex"/>
              </a:rPr>
              <a:t>Moti</a:t>
            </a:r>
            <a:r>
              <a:rPr sz="950" b="0" i="0">
                <a:solidFill>
                  <a:srgbClr val="FFFFFF"/>
                </a:solidFill>
                <a:latin typeface="Google Sans Flex"/>
              </a:rPr>
              <a:t>, a Gemini Live agent, asks one question at a pause.</a:t>
            </a:r>
          </a:p>
          <a:p>
            <a:pPr algn="l">
              <a:spcAft>
                <a:spcPts val="400"/>
              </a:spcAft>
            </a:pPr>
            <a:r>
              <a:rPr sz="1000" b="1" i="0">
                <a:solidFill>
                  <a:srgbClr val="B8860B"/>
                </a:solidFill>
                <a:latin typeface="Google Sans Flex"/>
              </a:rPr>
              <a:t>2  </a:t>
            </a:r>
            <a:r>
              <a:rPr sz="950" b="0" i="0">
                <a:solidFill>
                  <a:srgbClr val="FFFFFF"/>
                </a:solidFill>
                <a:latin typeface="Google Sans Flex"/>
              </a:rPr>
              <a:t>A Work Map: steps, decisions, reasons in the expert's own verified words, and guardrails.</a:t>
            </a:r>
          </a:p>
          <a:p>
            <a:pPr algn="l">
              <a:spcAft>
                <a:spcPts val="400"/>
              </a:spcAft>
            </a:pPr>
            <a:r>
              <a:rPr sz="1000" b="1" i="0">
                <a:solidFill>
                  <a:srgbClr val="B8860B"/>
                </a:solidFill>
                <a:latin typeface="Google Sans Flex"/>
              </a:rPr>
              <a:t>3  </a:t>
            </a:r>
            <a:r>
              <a:rPr sz="950" b="0" i="0">
                <a:solidFill>
                  <a:srgbClr val="FFFFFF"/>
                </a:solidFill>
                <a:latin typeface="Google Sans Flex"/>
              </a:rPr>
              <a:t>Learners practise with Moti as tutor, in their language. AI agents ask "would the expert stop here?"</a:t>
            </a:r>
          </a:p>
        </p:txBody>
      </p:sp>
      <p:pic>
        <p:nvPicPr>
          <p:cNvPr id="79" name="Picture 78" descr="photo_real-work-expert.jpg_2.00x1.85.jpg"/>
          <p:cNvPicPr>
            <a:picLocks noChangeAspect="1"/>
          </p:cNvPicPr>
          <p:nvPr/>
        </p:nvPicPr>
        <p:blipFill>
          <a:blip r:embed="rId4"/>
          <a:stretch>
            <a:fillRect/>
          </a:stretch>
        </p:blipFill>
        <p:spPr>
          <a:xfrm>
            <a:off x="5120640" y="2999232"/>
            <a:ext cx="1828800" cy="1691640"/>
          </a:xfrm>
          <a:prstGeom prst="rect">
            <a:avLst/>
          </a:prstGeom>
        </p:spPr>
      </p:pic>
      <p:pic>
        <p:nvPicPr>
          <p:cNvPr id="80" name="Picture 79" descr="photo_real-culture-capture.jpg_2.00x1.85.jpg"/>
          <p:cNvPicPr>
            <a:picLocks noChangeAspect="1"/>
          </p:cNvPicPr>
          <p:nvPr/>
        </p:nvPicPr>
        <p:blipFill>
          <a:blip r:embed="rId5"/>
          <a:stretch>
            <a:fillRect/>
          </a:stretch>
        </p:blipFill>
        <p:spPr>
          <a:xfrm>
            <a:off x="7040880" y="2999232"/>
            <a:ext cx="1828800" cy="1691640"/>
          </a:xfrm>
          <a:prstGeom prst="rect">
            <a:avLst/>
          </a:prstGeom>
        </p:spPr>
      </p:pic>
      <p:sp>
        <p:nvSpPr>
          <p:cNvPr id="81" name="TextBox 80"/>
          <p:cNvSpPr txBox="1"/>
          <p:nvPr/>
        </p:nvSpPr>
        <p:spPr>
          <a:xfrm>
            <a:off x="5120640" y="4663440"/>
            <a:ext cx="3749039" cy="182880"/>
          </a:xfrm>
          <a:prstGeom prst="rect">
            <a:avLst/>
          </a:prstGeom>
          <a:noFill/>
        </p:spPr>
        <p:txBody>
          <a:bodyPr wrap="square" anchor="t" lIns="18288" rIns="18288" tIns="18288" bIns="18288">
            <a:spAutoFit/>
          </a:bodyPr>
          <a:lstStyle/>
          <a:p>
            <a:pPr algn="l"/>
            <a:r>
              <a:rPr sz="700" b="0" i="1">
                <a:solidFill>
                  <a:srgbClr val="5F6368"/>
                </a:solidFill>
                <a:latin typeface="Google Sans Flex"/>
              </a:rPr>
              <a:t>Real sessions: a JMeter handover before leave · a Satara recipe in Marathi</a:t>
            </a:r>
          </a:p>
        </p:txBody>
      </p:sp>
      <p:sp>
        <p:nvSpPr>
          <p:cNvPr id="82" name="TextBox 81"/>
          <p:cNvSpPr txBox="1"/>
          <p:nvPr/>
        </p:nvSpPr>
        <p:spPr>
          <a:xfrm>
            <a:off x="274320" y="4818888"/>
            <a:ext cx="8595360" cy="237744"/>
          </a:xfrm>
          <a:prstGeom prst="rect">
            <a:avLst/>
          </a:prstGeom>
          <a:noFill/>
        </p:spPr>
        <p:txBody>
          <a:bodyPr wrap="square" anchor="t" lIns="18288" rIns="18288" tIns="18288" bIns="18288">
            <a:spAutoFit/>
          </a:bodyPr>
          <a:lstStyle/>
          <a:p>
            <a:pPr algn="l"/>
            <a:r>
              <a:rPr sz="700" b="0" i="0">
                <a:solidFill>
                  <a:srgbClr val="5F6368"/>
                </a:solidFill>
                <a:latin typeface="Google Sans Flex"/>
              </a:rPr>
              <a:t>[1] Daily Star 2026; Wikipedia  [2] Down To Earth 2013; Wikipedia  [3] Garland 2026, citing Assoc. for the Promotion of Traditional Craft Industries; NPR 2022  [4] Panopto 2018.  Full references: slide 14 and notes.</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id="68" name="Google Shape;68;p1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69" name="Google Shape;69;p1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5778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endParaRPr sz="1600">
              <a:latin typeface="Google Sans Flex SemiBold"/>
              <a:ea typeface="Google Sans Flex SemiBold"/>
              <a:cs typeface="Google Sans Flex SemiBold"/>
              <a:sym typeface="Google Sans Flex SemiBold"/>
            </a:endParaRPr>
          </a:p>
        </p:txBody>
      </p:sp>
      <p:sp>
        <p:nvSpPr>
          <p:cNvPr id="72" name="TextBox 71"/>
          <p:cNvSpPr txBox="1"/>
          <p:nvPr/>
        </p:nvSpPr>
        <p:spPr>
          <a:xfrm>
            <a:off x="274320" y="1188720"/>
            <a:ext cx="3337560" cy="411480"/>
          </a:xfrm>
          <a:prstGeom prst="rect">
            <a:avLst/>
          </a:prstGeom>
          <a:noFill/>
        </p:spPr>
        <p:txBody>
          <a:bodyPr wrap="square" anchor="b" lIns="18288" rIns="18288" tIns="18288" bIns="18288">
            <a:spAutoFit/>
          </a:bodyPr>
          <a:lstStyle/>
          <a:p>
            <a:pPr algn="l"/>
            <a:r>
              <a:rPr sz="1050" b="1" i="0">
                <a:solidFill>
                  <a:srgbClr val="1F3A7A"/>
                </a:solidFill>
                <a:latin typeface="Google Sans Flex"/>
              </a:rPr>
              <a:t>How different is it from any of the other existing ideas?</a:t>
            </a:r>
          </a:p>
        </p:txBody>
      </p:sp>
      <p:sp>
        <p:nvSpPr>
          <p:cNvPr id="73" name="Rectangle 72"/>
          <p:cNvSpPr/>
          <p:nvPr/>
        </p:nvSpPr>
        <p:spPr>
          <a:xfrm>
            <a:off x="274320" y="1627632"/>
            <a:ext cx="3337560" cy="36576"/>
          </a:xfrm>
          <a:prstGeom prst="rect">
            <a:avLst/>
          </a:prstGeom>
          <a:solidFill>
            <a:srgbClr val="1F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3749039" y="1188720"/>
            <a:ext cx="2514600" cy="411480"/>
          </a:xfrm>
          <a:prstGeom prst="rect">
            <a:avLst/>
          </a:prstGeom>
          <a:noFill/>
        </p:spPr>
        <p:txBody>
          <a:bodyPr wrap="square" anchor="b" lIns="18288" rIns="18288" tIns="18288" bIns="18288">
            <a:spAutoFit/>
          </a:bodyPr>
          <a:lstStyle/>
          <a:p>
            <a:pPr algn="l"/>
            <a:r>
              <a:rPr sz="1050" b="1" i="0">
                <a:solidFill>
                  <a:srgbClr val="B31B2E"/>
                </a:solidFill>
                <a:latin typeface="Google Sans Flex"/>
              </a:rPr>
              <a:t>How will it be able to solve the problem?</a:t>
            </a:r>
          </a:p>
        </p:txBody>
      </p:sp>
      <p:sp>
        <p:nvSpPr>
          <p:cNvPr id="75" name="Rectangle 74"/>
          <p:cNvSpPr/>
          <p:nvPr/>
        </p:nvSpPr>
        <p:spPr>
          <a:xfrm>
            <a:off x="3749039" y="1627632"/>
            <a:ext cx="2514600" cy="36576"/>
          </a:xfrm>
          <a:prstGeom prst="rect">
            <a:avLst/>
          </a:prstGeom>
          <a:solidFill>
            <a:srgbClr val="B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6400800" y="1188720"/>
            <a:ext cx="2468880" cy="411480"/>
          </a:xfrm>
          <a:prstGeom prst="rect">
            <a:avLst/>
          </a:prstGeom>
          <a:noFill/>
        </p:spPr>
        <p:txBody>
          <a:bodyPr wrap="square" anchor="b" lIns="18288" rIns="18288" tIns="18288" bIns="18288">
            <a:spAutoFit/>
          </a:bodyPr>
          <a:lstStyle/>
          <a:p>
            <a:pPr algn="l"/>
            <a:r>
              <a:rPr sz="1050" b="1" i="0">
                <a:solidFill>
                  <a:srgbClr val="B8860B"/>
                </a:solidFill>
                <a:latin typeface="Google Sans Flex"/>
              </a:rPr>
              <a:t>USP of the proposed solution</a:t>
            </a:r>
          </a:p>
        </p:txBody>
      </p:sp>
      <p:sp>
        <p:nvSpPr>
          <p:cNvPr id="77" name="Rectangle 76"/>
          <p:cNvSpPr/>
          <p:nvPr/>
        </p:nvSpPr>
        <p:spPr>
          <a:xfrm>
            <a:off x="6400800" y="1627632"/>
            <a:ext cx="2468880" cy="36576"/>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274320" y="1737360"/>
            <a:ext cx="1143000" cy="201168"/>
          </a:xfrm>
          <a:prstGeom prst="rect">
            <a:avLst/>
          </a:prstGeom>
          <a:noFill/>
        </p:spPr>
        <p:txBody>
          <a:bodyPr wrap="square" anchor="t" lIns="18288" rIns="18288" tIns="18288" bIns="18288">
            <a:spAutoFit/>
          </a:bodyPr>
          <a:lstStyle/>
          <a:p>
            <a:pPr algn="l"/>
            <a:r>
              <a:rPr sz="800" b="1" i="0">
                <a:solidFill>
                  <a:srgbClr val="5F6368"/>
                </a:solidFill>
                <a:latin typeface="Google Sans Flex"/>
              </a:rPr>
              <a:t>Others</a:t>
            </a:r>
          </a:p>
        </p:txBody>
      </p:sp>
      <p:sp>
        <p:nvSpPr>
          <p:cNvPr id="79" name="TextBox 78"/>
          <p:cNvSpPr txBox="1"/>
          <p:nvPr/>
        </p:nvSpPr>
        <p:spPr>
          <a:xfrm>
            <a:off x="1828800" y="1737360"/>
            <a:ext cx="1783080" cy="201168"/>
          </a:xfrm>
          <a:prstGeom prst="rect">
            <a:avLst/>
          </a:prstGeom>
          <a:noFill/>
        </p:spPr>
        <p:txBody>
          <a:bodyPr wrap="square" anchor="t" lIns="18288" rIns="18288" tIns="18288" bIns="18288">
            <a:spAutoFit/>
          </a:bodyPr>
          <a:lstStyle/>
          <a:p>
            <a:pPr algn="l"/>
            <a:r>
              <a:rPr sz="800" b="1" i="0">
                <a:solidFill>
                  <a:srgbClr val="1F3A7A"/>
                </a:solidFill>
                <a:latin typeface="Google Sans Flex"/>
              </a:rPr>
              <a:t>Agamya</a:t>
            </a:r>
          </a:p>
        </p:txBody>
      </p:sp>
      <p:sp>
        <p:nvSpPr>
          <p:cNvPr id="80" name="Rounded Rectangle 79"/>
          <p:cNvSpPr/>
          <p:nvPr/>
        </p:nvSpPr>
        <p:spPr>
          <a:xfrm>
            <a:off x="274320" y="1965960"/>
            <a:ext cx="3337560" cy="475488"/>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347472" y="1993391"/>
            <a:ext cx="1463040" cy="420624"/>
          </a:xfrm>
          <a:prstGeom prst="rect">
            <a:avLst/>
          </a:prstGeom>
          <a:noFill/>
        </p:spPr>
        <p:txBody>
          <a:bodyPr wrap="square" anchor="ctr" lIns="18288" rIns="18288" tIns="18288" bIns="18288">
            <a:spAutoFit/>
          </a:bodyPr>
          <a:lstStyle/>
          <a:p>
            <a:pPr algn="l"/>
            <a:r>
              <a:rPr sz="850" b="1" i="0">
                <a:solidFill>
                  <a:srgbClr val="1A1A1A"/>
                </a:solidFill>
                <a:latin typeface="Google Sans Flex"/>
              </a:rPr>
              <a:t>Screen recorders, SOP writers</a:t>
            </a:r>
          </a:p>
          <a:p>
            <a:pPr algn="l"/>
            <a:r>
              <a:rPr sz="750" b="0" i="0">
                <a:solidFill>
                  <a:srgbClr val="5F6368"/>
                </a:solidFill>
                <a:latin typeface="Google Sans Flex"/>
              </a:rPr>
              <a:t>record what was clicked</a:t>
            </a:r>
          </a:p>
        </p:txBody>
      </p:sp>
      <p:sp>
        <p:nvSpPr>
          <p:cNvPr id="82" name="TextBox 81"/>
          <p:cNvSpPr txBox="1"/>
          <p:nvPr/>
        </p:nvSpPr>
        <p:spPr>
          <a:xfrm>
            <a:off x="1828800" y="1993391"/>
            <a:ext cx="1737360" cy="420624"/>
          </a:xfrm>
          <a:prstGeom prst="rect">
            <a:avLst/>
          </a:prstGeom>
          <a:noFill/>
        </p:spPr>
        <p:txBody>
          <a:bodyPr wrap="square" anchor="ctr" lIns="18288" rIns="18288" tIns="18288" bIns="18288">
            <a:spAutoFit/>
          </a:bodyPr>
          <a:lstStyle/>
          <a:p>
            <a:pPr algn="l"/>
            <a:r>
              <a:rPr sz="850" b="1" i="0">
                <a:solidFill>
                  <a:srgbClr val="1F3A7A"/>
                </a:solidFill>
                <a:latin typeface="Google Sans Flex"/>
              </a:rPr>
              <a:t>ask why, live, at a pause</a:t>
            </a:r>
          </a:p>
        </p:txBody>
      </p:sp>
      <p:sp>
        <p:nvSpPr>
          <p:cNvPr id="83" name="Rounded Rectangle 82"/>
          <p:cNvSpPr/>
          <p:nvPr/>
        </p:nvSpPr>
        <p:spPr>
          <a:xfrm>
            <a:off x="274320" y="2514600"/>
            <a:ext cx="3337560" cy="475488"/>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347472" y="2542032"/>
            <a:ext cx="1463040" cy="420624"/>
          </a:xfrm>
          <a:prstGeom prst="rect">
            <a:avLst/>
          </a:prstGeom>
          <a:noFill/>
        </p:spPr>
        <p:txBody>
          <a:bodyPr wrap="square" anchor="ctr" lIns="18288" rIns="18288" tIns="18288" bIns="18288">
            <a:spAutoFit/>
          </a:bodyPr>
          <a:lstStyle/>
          <a:p>
            <a:pPr algn="l"/>
            <a:r>
              <a:rPr sz="850" b="1" i="0">
                <a:solidFill>
                  <a:srgbClr val="1A1A1A"/>
                </a:solidFill>
                <a:latin typeface="Google Sans Flex"/>
              </a:rPr>
              <a:t>Document chatbots</a:t>
            </a:r>
          </a:p>
          <a:p>
            <a:pPr algn="l"/>
            <a:r>
              <a:rPr sz="750" b="0" i="0">
                <a:solidFill>
                  <a:srgbClr val="5F6368"/>
                </a:solidFill>
                <a:latin typeface="Google Sans Flex"/>
              </a:rPr>
              <a:t>may invent answers</a:t>
            </a:r>
          </a:p>
        </p:txBody>
      </p:sp>
      <p:sp>
        <p:nvSpPr>
          <p:cNvPr id="85" name="TextBox 84"/>
          <p:cNvSpPr txBox="1"/>
          <p:nvPr/>
        </p:nvSpPr>
        <p:spPr>
          <a:xfrm>
            <a:off x="1828800" y="2542032"/>
            <a:ext cx="1737360" cy="420624"/>
          </a:xfrm>
          <a:prstGeom prst="rect">
            <a:avLst/>
          </a:prstGeom>
          <a:noFill/>
        </p:spPr>
        <p:txBody>
          <a:bodyPr wrap="square" anchor="ctr" lIns="18288" rIns="18288" tIns="18288" bIns="18288">
            <a:spAutoFit/>
          </a:bodyPr>
          <a:lstStyle/>
          <a:p>
            <a:pPr algn="l"/>
            <a:r>
              <a:rPr sz="850" b="1" i="0">
                <a:solidFill>
                  <a:srgbClr val="1F3A7A"/>
                </a:solidFill>
                <a:latin typeface="Google Sans Flex"/>
              </a:rPr>
              <a:t>the expert's verified quote, or "AI-inferred"</a:t>
            </a:r>
          </a:p>
        </p:txBody>
      </p:sp>
      <p:sp>
        <p:nvSpPr>
          <p:cNvPr id="86" name="Rounded Rectangle 85"/>
          <p:cNvSpPr/>
          <p:nvPr/>
        </p:nvSpPr>
        <p:spPr>
          <a:xfrm>
            <a:off x="274320" y="3063240"/>
            <a:ext cx="3337560" cy="475488"/>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347472" y="3090672"/>
            <a:ext cx="1463040" cy="420624"/>
          </a:xfrm>
          <a:prstGeom prst="rect">
            <a:avLst/>
          </a:prstGeom>
          <a:noFill/>
        </p:spPr>
        <p:txBody>
          <a:bodyPr wrap="square" anchor="ctr" lIns="18288" rIns="18288" tIns="18288" bIns="18288">
            <a:spAutoFit/>
          </a:bodyPr>
          <a:lstStyle/>
          <a:p>
            <a:pPr algn="l"/>
            <a:r>
              <a:rPr sz="850" b="1" i="0">
                <a:solidFill>
                  <a:srgbClr val="1A1A1A"/>
                </a:solidFill>
                <a:latin typeface="Google Sans Flex"/>
              </a:rPr>
              <a:t>Training videos</a:t>
            </a:r>
          </a:p>
          <a:p>
            <a:pPr algn="l"/>
            <a:r>
              <a:rPr sz="750" b="0" i="0">
                <a:solidFill>
                  <a:srgbClr val="5F6368"/>
                </a:solidFill>
                <a:latin typeface="Google Sans Flex"/>
              </a:rPr>
              <a:t>watch and forget</a:t>
            </a:r>
          </a:p>
        </p:txBody>
      </p:sp>
      <p:sp>
        <p:nvSpPr>
          <p:cNvPr id="88" name="TextBox 87"/>
          <p:cNvSpPr txBox="1"/>
          <p:nvPr/>
        </p:nvSpPr>
        <p:spPr>
          <a:xfrm>
            <a:off x="1828800" y="3090672"/>
            <a:ext cx="1737360" cy="420624"/>
          </a:xfrm>
          <a:prstGeom prst="rect">
            <a:avLst/>
          </a:prstGeom>
          <a:noFill/>
        </p:spPr>
        <p:txBody>
          <a:bodyPr wrap="square" anchor="ctr" lIns="18288" rIns="18288" tIns="18288" bIns="18288">
            <a:spAutoFit/>
          </a:bodyPr>
          <a:lstStyle/>
          <a:p>
            <a:pPr algn="l"/>
            <a:r>
              <a:rPr sz="850" b="1" i="0">
                <a:solidFill>
                  <a:srgbClr val="1F3A7A"/>
                </a:solidFill>
                <a:latin typeface="Google Sans Flex"/>
              </a:rPr>
              <a:t>practise; a tutor stops mistakes</a:t>
            </a:r>
          </a:p>
        </p:txBody>
      </p:sp>
      <p:sp>
        <p:nvSpPr>
          <p:cNvPr id="89" name="Rounded Rectangle 88"/>
          <p:cNvSpPr/>
          <p:nvPr/>
        </p:nvSpPr>
        <p:spPr>
          <a:xfrm>
            <a:off x="274320" y="3611880"/>
            <a:ext cx="3337560" cy="475488"/>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347472" y="3639312"/>
            <a:ext cx="1463040" cy="420624"/>
          </a:xfrm>
          <a:prstGeom prst="rect">
            <a:avLst/>
          </a:prstGeom>
          <a:noFill/>
        </p:spPr>
        <p:txBody>
          <a:bodyPr wrap="square" anchor="ctr" lIns="18288" rIns="18288" tIns="18288" bIns="18288">
            <a:spAutoFit/>
          </a:bodyPr>
          <a:lstStyle/>
          <a:p>
            <a:pPr algn="l"/>
            <a:r>
              <a:rPr sz="850" b="1" i="0">
                <a:solidFill>
                  <a:srgbClr val="1A1A1A"/>
                </a:solidFill>
                <a:latin typeface="Google Sans Flex"/>
              </a:rPr>
              <a:t>Agent guardrails</a:t>
            </a:r>
          </a:p>
          <a:p>
            <a:pPr algn="l"/>
            <a:r>
              <a:rPr sz="750" b="0" i="0">
                <a:solidFill>
                  <a:srgbClr val="5F6368"/>
                </a:solidFill>
                <a:latin typeface="Google Sans Flex"/>
              </a:rPr>
              <a:t>hand-written prompts</a:t>
            </a:r>
          </a:p>
        </p:txBody>
      </p:sp>
      <p:sp>
        <p:nvSpPr>
          <p:cNvPr id="91" name="TextBox 90"/>
          <p:cNvSpPr txBox="1"/>
          <p:nvPr/>
        </p:nvSpPr>
        <p:spPr>
          <a:xfrm>
            <a:off x="1828800" y="3639312"/>
            <a:ext cx="1737360" cy="420624"/>
          </a:xfrm>
          <a:prstGeom prst="rect">
            <a:avLst/>
          </a:prstGeom>
          <a:noFill/>
        </p:spPr>
        <p:txBody>
          <a:bodyPr wrap="square" anchor="ctr" lIns="18288" rIns="18288" tIns="18288" bIns="18288">
            <a:spAutoFit/>
          </a:bodyPr>
          <a:lstStyle/>
          <a:p>
            <a:pPr algn="l"/>
            <a:r>
              <a:rPr sz="850" b="1" i="0">
                <a:solidFill>
                  <a:srgbClr val="1F3A7A"/>
                </a:solidFill>
                <a:latin typeface="Google Sans Flex"/>
              </a:rPr>
              <a:t>from the expert, machine-checkable</a:t>
            </a:r>
          </a:p>
        </p:txBody>
      </p:sp>
      <p:sp>
        <p:nvSpPr>
          <p:cNvPr id="92" name="Rounded Rectangle 91"/>
          <p:cNvSpPr/>
          <p:nvPr/>
        </p:nvSpPr>
        <p:spPr>
          <a:xfrm>
            <a:off x="274320" y="4160520"/>
            <a:ext cx="3337560" cy="475488"/>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347472" y="4187952"/>
            <a:ext cx="1463040" cy="420624"/>
          </a:xfrm>
          <a:prstGeom prst="rect">
            <a:avLst/>
          </a:prstGeom>
          <a:noFill/>
        </p:spPr>
        <p:txBody>
          <a:bodyPr wrap="square" anchor="ctr" lIns="18288" rIns="18288" tIns="18288" bIns="18288">
            <a:spAutoFit/>
          </a:bodyPr>
          <a:lstStyle/>
          <a:p>
            <a:pPr algn="l"/>
            <a:r>
              <a:rPr sz="850" b="1" i="0">
                <a:solidFill>
                  <a:srgbClr val="1A1A1A"/>
                </a:solidFill>
                <a:latin typeface="Google Sans Flex"/>
              </a:rPr>
              <a:t>English-first tools</a:t>
            </a:r>
          </a:p>
          <a:p>
            <a:pPr algn="l"/>
            <a:r>
              <a:rPr sz="750" b="0" i="0">
                <a:solidFill>
                  <a:srgbClr val="5F6368"/>
                </a:solidFill>
                <a:latin typeface="Google Sans Flex"/>
              </a:rPr>
              <a:t/>
            </a:r>
          </a:p>
        </p:txBody>
      </p:sp>
      <p:sp>
        <p:nvSpPr>
          <p:cNvPr id="94" name="TextBox 93"/>
          <p:cNvSpPr txBox="1"/>
          <p:nvPr/>
        </p:nvSpPr>
        <p:spPr>
          <a:xfrm>
            <a:off x="1828800" y="4187952"/>
            <a:ext cx="1737360" cy="420624"/>
          </a:xfrm>
          <a:prstGeom prst="rect">
            <a:avLst/>
          </a:prstGeom>
          <a:noFill/>
        </p:spPr>
        <p:txBody>
          <a:bodyPr wrap="square" anchor="ctr" lIns="18288" rIns="18288" tIns="18288" bIns="18288">
            <a:spAutoFit/>
          </a:bodyPr>
          <a:lstStyle/>
          <a:p>
            <a:pPr algn="l"/>
            <a:r>
              <a:rPr sz="850" b="1" i="0">
                <a:solidFill>
                  <a:srgbClr val="1F3A7A"/>
                </a:solidFill>
                <a:latin typeface="Google Sans Flex"/>
              </a:rPr>
              <a:t>Marathi, Hindi, Kannada and more</a:t>
            </a:r>
          </a:p>
        </p:txBody>
      </p:sp>
      <p:sp>
        <p:nvSpPr>
          <p:cNvPr id="95" name="Rounded Rectangle 94"/>
          <p:cNvSpPr/>
          <p:nvPr/>
        </p:nvSpPr>
        <p:spPr>
          <a:xfrm>
            <a:off x="3749039" y="1783080"/>
            <a:ext cx="2514600" cy="457200"/>
          </a:xfrm>
          <a:prstGeom prst="roundRect">
            <a:avLst>
              <a:gd name="adj" fmla="val 20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Box 95"/>
          <p:cNvSpPr txBox="1"/>
          <p:nvPr/>
        </p:nvSpPr>
        <p:spPr>
          <a:xfrm>
            <a:off x="3840480" y="1801368"/>
            <a:ext cx="2377440" cy="420624"/>
          </a:xfrm>
          <a:prstGeom prst="rect">
            <a:avLst/>
          </a:prstGeom>
          <a:noFill/>
        </p:spPr>
        <p:txBody>
          <a:bodyPr wrap="square" anchor="ctr" lIns="18288" rIns="18288" tIns="18288" bIns="18288">
            <a:spAutoFit/>
          </a:bodyPr>
          <a:lstStyle/>
          <a:p>
            <a:pPr algn="l"/>
            <a:r>
              <a:rPr sz="1000" b="1" i="0">
                <a:solidFill>
                  <a:srgbClr val="B31B2E"/>
                </a:solidFill>
                <a:latin typeface="Google Sans Flex"/>
              </a:rPr>
              <a:t>1  Capture</a:t>
            </a:r>
          </a:p>
          <a:p>
            <a:pPr algn="l"/>
            <a:r>
              <a:rPr sz="800" b="0" i="0">
                <a:solidFill>
                  <a:srgbClr val="5F6368"/>
                </a:solidFill>
                <a:latin typeface="Google Sans Flex"/>
              </a:rPr>
              <a:t>Moti asks why while the expert works</a:t>
            </a:r>
          </a:p>
        </p:txBody>
      </p:sp>
      <p:cxnSp>
        <p:nvCxnSpPr>
          <p:cNvPr id="97" name="Connector 96"/>
          <p:cNvCxnSpPr/>
          <p:nvPr/>
        </p:nvCxnSpPr>
        <p:spPr>
          <a:xfrm>
            <a:off x="5006340" y="2240280"/>
            <a:ext cx="0" cy="118872"/>
          </a:xfrm>
          <a:prstGeom prst="line">
            <a:avLst/>
          </a:prstGeom>
          <a:ln w="15875">
            <a:solidFill>
              <a:srgbClr val="B31B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8" name="Rounded Rectangle 97"/>
          <p:cNvSpPr/>
          <p:nvPr/>
        </p:nvSpPr>
        <p:spPr>
          <a:xfrm>
            <a:off x="3749039" y="2359152"/>
            <a:ext cx="2514600" cy="457200"/>
          </a:xfrm>
          <a:prstGeom prst="roundRect">
            <a:avLst>
              <a:gd name="adj" fmla="val 20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Box 98"/>
          <p:cNvSpPr txBox="1"/>
          <p:nvPr/>
        </p:nvSpPr>
        <p:spPr>
          <a:xfrm>
            <a:off x="3840480" y="2377440"/>
            <a:ext cx="2377440" cy="420624"/>
          </a:xfrm>
          <a:prstGeom prst="rect">
            <a:avLst/>
          </a:prstGeom>
          <a:noFill/>
        </p:spPr>
        <p:txBody>
          <a:bodyPr wrap="square" anchor="ctr" lIns="18288" rIns="18288" tIns="18288" bIns="18288">
            <a:spAutoFit/>
          </a:bodyPr>
          <a:lstStyle/>
          <a:p>
            <a:pPr algn="l"/>
            <a:r>
              <a:rPr sz="1000" b="1" i="0">
                <a:solidFill>
                  <a:srgbClr val="B31B2E"/>
                </a:solidFill>
                <a:latin typeface="Google Sans Flex"/>
              </a:rPr>
              <a:t>2  Understand</a:t>
            </a:r>
          </a:p>
          <a:p>
            <a:pPr algn="l"/>
            <a:r>
              <a:rPr sz="800" b="0" i="0">
                <a:solidFill>
                  <a:srgbClr val="5F6368"/>
                </a:solidFill>
                <a:latin typeface="Google Sans Flex"/>
              </a:rPr>
              <a:t>Work Map with verified quotes</a:t>
            </a:r>
          </a:p>
        </p:txBody>
      </p:sp>
      <p:cxnSp>
        <p:nvCxnSpPr>
          <p:cNvPr id="100" name="Connector 99"/>
          <p:cNvCxnSpPr/>
          <p:nvPr/>
        </p:nvCxnSpPr>
        <p:spPr>
          <a:xfrm>
            <a:off x="5006340" y="2816352"/>
            <a:ext cx="0" cy="118872"/>
          </a:xfrm>
          <a:prstGeom prst="line">
            <a:avLst/>
          </a:prstGeom>
          <a:ln w="15875">
            <a:solidFill>
              <a:srgbClr val="B31B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1" name="Rounded Rectangle 100"/>
          <p:cNvSpPr/>
          <p:nvPr/>
        </p:nvSpPr>
        <p:spPr>
          <a:xfrm>
            <a:off x="3749039" y="2935224"/>
            <a:ext cx="2514600" cy="457200"/>
          </a:xfrm>
          <a:prstGeom prst="roundRect">
            <a:avLst>
              <a:gd name="adj" fmla="val 20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3840480" y="2953512"/>
            <a:ext cx="2377440" cy="420624"/>
          </a:xfrm>
          <a:prstGeom prst="rect">
            <a:avLst/>
          </a:prstGeom>
          <a:noFill/>
        </p:spPr>
        <p:txBody>
          <a:bodyPr wrap="square" anchor="ctr" lIns="18288" rIns="18288" tIns="18288" bIns="18288">
            <a:spAutoFit/>
          </a:bodyPr>
          <a:lstStyle/>
          <a:p>
            <a:pPr algn="l"/>
            <a:r>
              <a:rPr sz="1000" b="1" i="0">
                <a:solidFill>
                  <a:srgbClr val="B31B2E"/>
                </a:solidFill>
                <a:latin typeface="Google Sans Flex"/>
              </a:rPr>
              <a:t>3  Confirm</a:t>
            </a:r>
          </a:p>
          <a:p>
            <a:pPr algn="l"/>
            <a:r>
              <a:rPr sz="800" b="0" i="0">
                <a:solidFill>
                  <a:srgbClr val="5F6368"/>
                </a:solidFill>
                <a:latin typeface="Google Sans Flex"/>
              </a:rPr>
              <a:t>the expert approves and chooses who learns</a:t>
            </a:r>
          </a:p>
        </p:txBody>
      </p:sp>
      <p:cxnSp>
        <p:nvCxnSpPr>
          <p:cNvPr id="103" name="Connector 102"/>
          <p:cNvCxnSpPr/>
          <p:nvPr/>
        </p:nvCxnSpPr>
        <p:spPr>
          <a:xfrm>
            <a:off x="5006340" y="3392424"/>
            <a:ext cx="0" cy="118872"/>
          </a:xfrm>
          <a:prstGeom prst="line">
            <a:avLst/>
          </a:prstGeom>
          <a:ln w="15875">
            <a:solidFill>
              <a:srgbClr val="B31B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4" name="Rounded Rectangle 103"/>
          <p:cNvSpPr/>
          <p:nvPr/>
        </p:nvSpPr>
        <p:spPr>
          <a:xfrm>
            <a:off x="3749039" y="3511296"/>
            <a:ext cx="2514600" cy="457200"/>
          </a:xfrm>
          <a:prstGeom prst="roundRect">
            <a:avLst>
              <a:gd name="adj" fmla="val 20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Box 104"/>
          <p:cNvSpPr txBox="1"/>
          <p:nvPr/>
        </p:nvSpPr>
        <p:spPr>
          <a:xfrm>
            <a:off x="3840480" y="3529584"/>
            <a:ext cx="2377440" cy="420624"/>
          </a:xfrm>
          <a:prstGeom prst="rect">
            <a:avLst/>
          </a:prstGeom>
          <a:noFill/>
        </p:spPr>
        <p:txBody>
          <a:bodyPr wrap="square" anchor="ctr" lIns="18288" rIns="18288" tIns="18288" bIns="18288">
            <a:spAutoFit/>
          </a:bodyPr>
          <a:lstStyle/>
          <a:p>
            <a:pPr algn="l"/>
            <a:r>
              <a:rPr sz="1000" b="1" i="0">
                <a:solidFill>
                  <a:srgbClr val="B31B2E"/>
                </a:solidFill>
                <a:latin typeface="Google Sans Flex"/>
              </a:rPr>
              <a:t>4  Transfer</a:t>
            </a:r>
          </a:p>
          <a:p>
            <a:pPr algn="l"/>
            <a:r>
              <a:rPr sz="800" b="0" i="0">
                <a:solidFill>
                  <a:srgbClr val="5F6368"/>
                </a:solidFill>
                <a:latin typeface="Google Sans Flex"/>
              </a:rPr>
              <a:t>practice, listening, Ask, AI agents</a:t>
            </a:r>
          </a:p>
        </p:txBody>
      </p:sp>
      <p:cxnSp>
        <p:nvCxnSpPr>
          <p:cNvPr id="106" name="Connector 105"/>
          <p:cNvCxnSpPr/>
          <p:nvPr/>
        </p:nvCxnSpPr>
        <p:spPr>
          <a:xfrm>
            <a:off x="5006340" y="3968496"/>
            <a:ext cx="0" cy="118872"/>
          </a:xfrm>
          <a:prstGeom prst="line">
            <a:avLst/>
          </a:prstGeom>
          <a:ln w="15875">
            <a:solidFill>
              <a:srgbClr val="B31B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7" name="Rounded Rectangle 106"/>
          <p:cNvSpPr/>
          <p:nvPr/>
        </p:nvSpPr>
        <p:spPr>
          <a:xfrm>
            <a:off x="3749039" y="4087368"/>
            <a:ext cx="2514600" cy="457200"/>
          </a:xfrm>
          <a:prstGeom prst="roundRect">
            <a:avLst>
              <a:gd name="adj" fmla="val 20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3840480" y="4105655"/>
            <a:ext cx="2377440" cy="420624"/>
          </a:xfrm>
          <a:prstGeom prst="rect">
            <a:avLst/>
          </a:prstGeom>
          <a:noFill/>
        </p:spPr>
        <p:txBody>
          <a:bodyPr wrap="square" anchor="ctr" lIns="18288" rIns="18288" tIns="18288" bIns="18288">
            <a:spAutoFit/>
          </a:bodyPr>
          <a:lstStyle/>
          <a:p>
            <a:pPr algn="l"/>
            <a:r>
              <a:rPr sz="1000" b="1" i="0">
                <a:solidFill>
                  <a:srgbClr val="B31B2E"/>
                </a:solidFill>
                <a:latin typeface="Google Sans Flex"/>
              </a:rPr>
              <a:t>5  Measure</a:t>
            </a:r>
          </a:p>
          <a:p>
            <a:pPr algn="l"/>
            <a:r>
              <a:rPr sz="800" b="0" i="0">
                <a:solidFill>
                  <a:srgbClr val="5F6368"/>
                </a:solidFill>
                <a:latin typeface="Google Sans Flex"/>
              </a:rPr>
              <a:t>impact from records, not estimates</a:t>
            </a:r>
          </a:p>
        </p:txBody>
      </p:sp>
      <p:sp>
        <p:nvSpPr>
          <p:cNvPr id="109" name="TextBox 108"/>
          <p:cNvSpPr txBox="1"/>
          <p:nvPr/>
        </p:nvSpPr>
        <p:spPr>
          <a:xfrm>
            <a:off x="3749039" y="4617720"/>
            <a:ext cx="2514600" cy="274320"/>
          </a:xfrm>
          <a:prstGeom prst="rect">
            <a:avLst/>
          </a:prstGeom>
          <a:noFill/>
        </p:spPr>
        <p:txBody>
          <a:bodyPr wrap="square" anchor="t" lIns="18288" rIns="18288" tIns="18288" bIns="18288">
            <a:spAutoFit/>
          </a:bodyPr>
          <a:lstStyle/>
          <a:p>
            <a:pPr algn="l"/>
            <a:r>
              <a:rPr sz="800" b="0" i="1">
                <a:solidFill>
                  <a:srgbClr val="5F6368"/>
                </a:solidFill>
                <a:latin typeface="Google Sans Flex"/>
              </a:rPr>
              <a:t>Minutes of the expert's time.</a:t>
            </a:r>
          </a:p>
        </p:txBody>
      </p:sp>
      <p:sp>
        <p:nvSpPr>
          <p:cNvPr id="110" name="Rounded Rectangle 109"/>
          <p:cNvSpPr/>
          <p:nvPr/>
        </p:nvSpPr>
        <p:spPr>
          <a:xfrm>
            <a:off x="6400800" y="1783080"/>
            <a:ext cx="2468880" cy="914400"/>
          </a:xfrm>
          <a:prstGeom prst="roundRect">
            <a:avLst>
              <a:gd name="adj" fmla="val 8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Box 110"/>
          <p:cNvSpPr txBox="1"/>
          <p:nvPr/>
        </p:nvSpPr>
        <p:spPr>
          <a:xfrm>
            <a:off x="6492240" y="1828800"/>
            <a:ext cx="2286000" cy="822960"/>
          </a:xfrm>
          <a:prstGeom prst="rect">
            <a:avLst/>
          </a:prstGeom>
          <a:noFill/>
        </p:spPr>
        <p:txBody>
          <a:bodyPr wrap="square" anchor="ctr" lIns="18288" rIns="18288" tIns="18288" bIns="18288">
            <a:spAutoFit/>
          </a:bodyPr>
          <a:lstStyle/>
          <a:p>
            <a:pPr algn="l"/>
            <a:r>
              <a:rPr sz="950" b="1" i="0">
                <a:solidFill>
                  <a:srgbClr val="FFFFFF"/>
                </a:solidFill>
                <a:latin typeface="Google Sans Flex"/>
              </a:rPr>
              <a:t>One confirmed judgment, in the expert's own words, becomes three things:</a:t>
            </a:r>
          </a:p>
        </p:txBody>
      </p:sp>
      <p:sp>
        <p:nvSpPr>
          <p:cNvPr id="112" name="Rounded Rectangle 111"/>
          <p:cNvSpPr/>
          <p:nvPr/>
        </p:nvSpPr>
        <p:spPr>
          <a:xfrm>
            <a:off x="6400800" y="2788920"/>
            <a:ext cx="2468880" cy="548640"/>
          </a:xfrm>
          <a:prstGeom prst="roundRect">
            <a:avLst>
              <a:gd name="adj" fmla="val 20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Box 112"/>
          <p:cNvSpPr txBox="1"/>
          <p:nvPr/>
        </p:nvSpPr>
        <p:spPr>
          <a:xfrm>
            <a:off x="6510528" y="2807208"/>
            <a:ext cx="2286000" cy="512064"/>
          </a:xfrm>
          <a:prstGeom prst="rect">
            <a:avLst/>
          </a:prstGeom>
          <a:noFill/>
        </p:spPr>
        <p:txBody>
          <a:bodyPr wrap="square" anchor="ctr" lIns="18288" rIns="18288" tIns="18288" bIns="18288">
            <a:spAutoFit/>
          </a:bodyPr>
          <a:lstStyle/>
          <a:p>
            <a:pPr algn="l"/>
            <a:r>
              <a:rPr sz="1100" b="1" i="0">
                <a:solidFill>
                  <a:srgbClr val="B8860B"/>
                </a:solidFill>
                <a:latin typeface="Google Sans Flex"/>
              </a:rPr>
              <a:t>a lesson</a:t>
            </a:r>
          </a:p>
          <a:p>
            <a:pPr algn="l"/>
            <a:r>
              <a:rPr sz="850" b="0" i="0">
                <a:solidFill>
                  <a:srgbClr val="5F6368"/>
                </a:solidFill>
                <a:latin typeface="Google Sans Flex"/>
              </a:rPr>
              <a:t>for people, in 15 languages</a:t>
            </a:r>
          </a:p>
        </p:txBody>
      </p:sp>
      <p:sp>
        <p:nvSpPr>
          <p:cNvPr id="114" name="Rounded Rectangle 113"/>
          <p:cNvSpPr/>
          <p:nvPr/>
        </p:nvSpPr>
        <p:spPr>
          <a:xfrm>
            <a:off x="6400800" y="3410712"/>
            <a:ext cx="2468880" cy="548640"/>
          </a:xfrm>
          <a:prstGeom prst="roundRect">
            <a:avLst>
              <a:gd name="adj" fmla="val 20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TextBox 114"/>
          <p:cNvSpPr txBox="1"/>
          <p:nvPr/>
        </p:nvSpPr>
        <p:spPr>
          <a:xfrm>
            <a:off x="6510528" y="3429000"/>
            <a:ext cx="2286000" cy="512064"/>
          </a:xfrm>
          <a:prstGeom prst="rect">
            <a:avLst/>
          </a:prstGeom>
          <a:noFill/>
        </p:spPr>
        <p:txBody>
          <a:bodyPr wrap="square" anchor="ctr" lIns="18288" rIns="18288" tIns="18288" bIns="18288">
            <a:spAutoFit/>
          </a:bodyPr>
          <a:lstStyle/>
          <a:p>
            <a:pPr algn="l"/>
            <a:r>
              <a:rPr sz="1100" b="1" i="0">
                <a:solidFill>
                  <a:srgbClr val="B8860B"/>
                </a:solidFill>
                <a:latin typeface="Google Sans Flex"/>
              </a:rPr>
              <a:t>a live tutor</a:t>
            </a:r>
          </a:p>
          <a:p>
            <a:pPr algn="l"/>
            <a:r>
              <a:rPr sz="850" b="0" i="0">
                <a:solidFill>
                  <a:srgbClr val="5F6368"/>
                </a:solidFill>
                <a:latin typeface="Google Sans Flex"/>
              </a:rPr>
              <a:t>that stops a wrong decision</a:t>
            </a:r>
          </a:p>
        </p:txBody>
      </p:sp>
      <p:sp>
        <p:nvSpPr>
          <p:cNvPr id="116" name="Rounded Rectangle 115"/>
          <p:cNvSpPr/>
          <p:nvPr/>
        </p:nvSpPr>
        <p:spPr>
          <a:xfrm>
            <a:off x="6400800" y="4032504"/>
            <a:ext cx="2468880" cy="548640"/>
          </a:xfrm>
          <a:prstGeom prst="roundRect">
            <a:avLst>
              <a:gd name="adj" fmla="val 20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Box 116"/>
          <p:cNvSpPr txBox="1"/>
          <p:nvPr/>
        </p:nvSpPr>
        <p:spPr>
          <a:xfrm>
            <a:off x="6510528" y="4050791"/>
            <a:ext cx="2286000" cy="512064"/>
          </a:xfrm>
          <a:prstGeom prst="rect">
            <a:avLst/>
          </a:prstGeom>
          <a:noFill/>
        </p:spPr>
        <p:txBody>
          <a:bodyPr wrap="square" anchor="ctr" lIns="18288" rIns="18288" tIns="18288" bIns="18288">
            <a:spAutoFit/>
          </a:bodyPr>
          <a:lstStyle/>
          <a:p>
            <a:pPr algn="l"/>
            <a:r>
              <a:rPr sz="1100" b="1" i="0">
                <a:solidFill>
                  <a:srgbClr val="B8860B"/>
                </a:solidFill>
                <a:latin typeface="Google Sans Flex"/>
              </a:rPr>
              <a:t>a guardrail</a:t>
            </a:r>
          </a:p>
          <a:p>
            <a:pPr algn="l"/>
            <a:r>
              <a:rPr sz="850" b="0" i="0">
                <a:solidFill>
                  <a:srgbClr val="5F6368"/>
                </a:solidFill>
                <a:latin typeface="Google Sans Flex"/>
              </a:rPr>
              <a:t>for AI agents (REST, MCP, ADK)</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0" name="Rounded Rectangle 79"/>
          <p:cNvSpPr/>
          <p:nvPr/>
        </p:nvSpPr>
        <p:spPr>
          <a:xfrm>
            <a:off x="274320" y="1207008"/>
            <a:ext cx="2011680" cy="1133856"/>
          </a:xfrm>
          <a:prstGeom prst="roundRect">
            <a:avLst>
              <a:gd name="adj" fmla="val 4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1" name="Picture 80" descr="feat_0.png"/>
          <p:cNvPicPr>
            <a:picLocks noChangeAspect="1"/>
          </p:cNvPicPr>
          <p:nvPr/>
        </p:nvPicPr>
        <p:blipFill>
          <a:blip r:embed="rId5"/>
          <a:stretch>
            <a:fillRect/>
          </a:stretch>
        </p:blipFill>
        <p:spPr>
          <a:xfrm>
            <a:off x="437763" y="1243584"/>
            <a:ext cx="1684792" cy="1060704"/>
          </a:xfrm>
          <a:prstGeom prst="rect">
            <a:avLst/>
          </a:prstGeom>
        </p:spPr>
      </p:pic>
      <p:sp>
        <p:nvSpPr>
          <p:cNvPr id="82" name="TextBox 81"/>
          <p:cNvSpPr txBox="1"/>
          <p:nvPr/>
        </p:nvSpPr>
        <p:spPr>
          <a:xfrm>
            <a:off x="274320" y="2377440"/>
            <a:ext cx="2011680" cy="566928"/>
          </a:xfrm>
          <a:prstGeom prst="rect">
            <a:avLst/>
          </a:prstGeom>
          <a:noFill/>
        </p:spPr>
        <p:txBody>
          <a:bodyPr wrap="square" anchor="t" lIns="18288" rIns="18288" tIns="18288" bIns="18288">
            <a:spAutoFit/>
          </a:bodyPr>
          <a:lstStyle/>
          <a:p>
            <a:pPr algn="l"/>
            <a:r>
              <a:rPr sz="1000" b="1" i="0">
                <a:solidFill>
                  <a:srgbClr val="1A1A1A"/>
                </a:solidFill>
                <a:latin typeface="Google Sans Flex"/>
              </a:rPr>
              <a:t>1. Live capture with Moti</a:t>
            </a:r>
          </a:p>
          <a:p>
            <a:pPr algn="l"/>
            <a:r>
              <a:rPr sz="800" b="0" i="0">
                <a:solidFill>
                  <a:srgbClr val="5F6368"/>
                </a:solidFill>
                <a:latin typeface="Google Sans Flex"/>
              </a:rPr>
              <a:t>Gemini Live asks at a pause; off the record any time</a:t>
            </a:r>
          </a:p>
        </p:txBody>
      </p:sp>
      <p:sp>
        <p:nvSpPr>
          <p:cNvPr id="83" name="Rounded Rectangle 82"/>
          <p:cNvSpPr/>
          <p:nvPr/>
        </p:nvSpPr>
        <p:spPr>
          <a:xfrm>
            <a:off x="2468880" y="1207008"/>
            <a:ext cx="2011680" cy="1133856"/>
          </a:xfrm>
          <a:prstGeom prst="roundRect">
            <a:avLst>
              <a:gd name="adj" fmla="val 4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4" name="Picture 83" descr="feat_1.png"/>
          <p:cNvPicPr>
            <a:picLocks noChangeAspect="1"/>
          </p:cNvPicPr>
          <p:nvPr/>
        </p:nvPicPr>
        <p:blipFill>
          <a:blip r:embed="rId6"/>
          <a:stretch>
            <a:fillRect/>
          </a:stretch>
        </p:blipFill>
        <p:spPr>
          <a:xfrm>
            <a:off x="2624328" y="1243584"/>
            <a:ext cx="1700784" cy="1060704"/>
          </a:xfrm>
          <a:prstGeom prst="rect">
            <a:avLst/>
          </a:prstGeom>
        </p:spPr>
      </p:pic>
      <p:sp>
        <p:nvSpPr>
          <p:cNvPr id="85" name="TextBox 84"/>
          <p:cNvSpPr txBox="1"/>
          <p:nvPr/>
        </p:nvSpPr>
        <p:spPr>
          <a:xfrm>
            <a:off x="2468880" y="2377440"/>
            <a:ext cx="2011680" cy="566928"/>
          </a:xfrm>
          <a:prstGeom prst="rect">
            <a:avLst/>
          </a:prstGeom>
          <a:noFill/>
        </p:spPr>
        <p:txBody>
          <a:bodyPr wrap="square" anchor="t" lIns="18288" rIns="18288" tIns="18288" bIns="18288">
            <a:spAutoFit/>
          </a:bodyPr>
          <a:lstStyle/>
          <a:p>
            <a:pPr algn="l"/>
            <a:r>
              <a:rPr sz="1000" b="1" i="0">
                <a:solidFill>
                  <a:srgbClr val="1A1A1A"/>
                </a:solidFill>
                <a:latin typeface="Google Sans Flex"/>
              </a:rPr>
              <a:t>2. Work Map</a:t>
            </a:r>
          </a:p>
          <a:p>
            <a:pPr algn="l"/>
            <a:r>
              <a:rPr sz="800" b="0" i="0">
                <a:solidFill>
                  <a:srgbClr val="5F6368"/>
                </a:solidFill>
                <a:latin typeface="Google Sans Flex"/>
              </a:rPr>
              <a:t>steps, reasons in the expert's verified words, guardrails</a:t>
            </a:r>
          </a:p>
        </p:txBody>
      </p:sp>
      <p:sp>
        <p:nvSpPr>
          <p:cNvPr id="86" name="Rounded Rectangle 85"/>
          <p:cNvSpPr/>
          <p:nvPr/>
        </p:nvSpPr>
        <p:spPr>
          <a:xfrm>
            <a:off x="4663440" y="1207008"/>
            <a:ext cx="2011680" cy="1133856"/>
          </a:xfrm>
          <a:prstGeom prst="roundRect">
            <a:avLst>
              <a:gd name="adj" fmla="val 4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7" name="Picture 86" descr="feat_2.png"/>
          <p:cNvPicPr>
            <a:picLocks noChangeAspect="1"/>
          </p:cNvPicPr>
          <p:nvPr/>
        </p:nvPicPr>
        <p:blipFill>
          <a:blip r:embed="rId7"/>
          <a:stretch>
            <a:fillRect/>
          </a:stretch>
        </p:blipFill>
        <p:spPr>
          <a:xfrm>
            <a:off x="4826883" y="1243584"/>
            <a:ext cx="1684792" cy="1060704"/>
          </a:xfrm>
          <a:prstGeom prst="rect">
            <a:avLst/>
          </a:prstGeom>
        </p:spPr>
      </p:pic>
      <p:sp>
        <p:nvSpPr>
          <p:cNvPr id="88" name="TextBox 87"/>
          <p:cNvSpPr txBox="1"/>
          <p:nvPr/>
        </p:nvSpPr>
        <p:spPr>
          <a:xfrm>
            <a:off x="4663440" y="2377440"/>
            <a:ext cx="2011680" cy="566928"/>
          </a:xfrm>
          <a:prstGeom prst="rect">
            <a:avLst/>
          </a:prstGeom>
          <a:noFill/>
        </p:spPr>
        <p:txBody>
          <a:bodyPr wrap="square" anchor="t" lIns="18288" rIns="18288" tIns="18288" bIns="18288">
            <a:spAutoFit/>
          </a:bodyPr>
          <a:lstStyle/>
          <a:p>
            <a:pPr algn="l"/>
            <a:r>
              <a:rPr sz="1000" b="1" i="0">
                <a:solidFill>
                  <a:srgbClr val="1A1A1A"/>
                </a:solidFill>
                <a:latin typeface="Google Sans Flex"/>
              </a:rPr>
              <a:t>3. Practise with a tutor</a:t>
            </a:r>
          </a:p>
          <a:p>
            <a:pPr algn="l"/>
            <a:r>
              <a:rPr sz="800" b="0" i="0">
                <a:solidFill>
                  <a:srgbClr val="5F6368"/>
                </a:solidFill>
                <a:latin typeface="Google Sans Flex"/>
              </a:rPr>
              <a:t>camera or screen; Moti stops a wrong decision</a:t>
            </a:r>
          </a:p>
        </p:txBody>
      </p:sp>
      <p:sp>
        <p:nvSpPr>
          <p:cNvPr id="89" name="Rounded Rectangle 88"/>
          <p:cNvSpPr/>
          <p:nvPr/>
        </p:nvSpPr>
        <p:spPr>
          <a:xfrm>
            <a:off x="6858000" y="1207008"/>
            <a:ext cx="2011680" cy="1133856"/>
          </a:xfrm>
          <a:prstGeom prst="roundRect">
            <a:avLst>
              <a:gd name="adj" fmla="val 4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0" name="Picture 89" descr="10-listen-hindi.png"/>
          <p:cNvPicPr>
            <a:picLocks noChangeAspect="1"/>
          </p:cNvPicPr>
          <p:nvPr/>
        </p:nvPicPr>
        <p:blipFill>
          <a:blip r:embed="rId8"/>
          <a:stretch>
            <a:fillRect/>
          </a:stretch>
        </p:blipFill>
        <p:spPr>
          <a:xfrm>
            <a:off x="6894576" y="1331873"/>
            <a:ext cx="1938528" cy="884125"/>
          </a:xfrm>
          <a:prstGeom prst="rect">
            <a:avLst/>
          </a:prstGeom>
        </p:spPr>
      </p:pic>
      <p:sp>
        <p:nvSpPr>
          <p:cNvPr id="91" name="TextBox 90"/>
          <p:cNvSpPr txBox="1"/>
          <p:nvPr/>
        </p:nvSpPr>
        <p:spPr>
          <a:xfrm>
            <a:off x="6858000" y="2377440"/>
            <a:ext cx="2011680" cy="566928"/>
          </a:xfrm>
          <a:prstGeom prst="rect">
            <a:avLst/>
          </a:prstGeom>
          <a:noFill/>
        </p:spPr>
        <p:txBody>
          <a:bodyPr wrap="square" anchor="t" lIns="18288" rIns="18288" tIns="18288" bIns="18288">
            <a:spAutoFit/>
          </a:bodyPr>
          <a:lstStyle/>
          <a:p>
            <a:pPr algn="l"/>
            <a:r>
              <a:rPr sz="1000" b="1" i="0">
                <a:solidFill>
                  <a:srgbClr val="1A1A1A"/>
                </a:solidFill>
                <a:latin typeface="Google Sans Flex"/>
              </a:rPr>
              <a:t>4. Listen</a:t>
            </a:r>
          </a:p>
          <a:p>
            <a:pPr algn="l"/>
            <a:r>
              <a:rPr sz="800" b="0" i="0">
                <a:solidFill>
                  <a:srgbClr val="5F6368"/>
                </a:solidFill>
                <a:latin typeface="Google Sans Flex"/>
              </a:rPr>
              <a:t>a spoken lesson in 15 languages</a:t>
            </a:r>
          </a:p>
        </p:txBody>
      </p:sp>
      <p:sp>
        <p:nvSpPr>
          <p:cNvPr id="92" name="Rounded Rectangle 91"/>
          <p:cNvSpPr/>
          <p:nvPr/>
        </p:nvSpPr>
        <p:spPr>
          <a:xfrm>
            <a:off x="274320" y="3017520"/>
            <a:ext cx="2011680" cy="1133856"/>
          </a:xfrm>
          <a:prstGeom prst="roundRect">
            <a:avLst>
              <a:gd name="adj" fmla="val 4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3" name="Picture 92" descr="11-would-asha-stop.png"/>
          <p:cNvPicPr>
            <a:picLocks noChangeAspect="1"/>
          </p:cNvPicPr>
          <p:nvPr/>
        </p:nvPicPr>
        <p:blipFill>
          <a:blip r:embed="rId9"/>
          <a:stretch>
            <a:fillRect/>
          </a:stretch>
        </p:blipFill>
        <p:spPr>
          <a:xfrm>
            <a:off x="310896" y="3151117"/>
            <a:ext cx="1938528" cy="866661"/>
          </a:xfrm>
          <a:prstGeom prst="rect">
            <a:avLst/>
          </a:prstGeom>
        </p:spPr>
      </p:pic>
      <p:sp>
        <p:nvSpPr>
          <p:cNvPr id="94" name="TextBox 93"/>
          <p:cNvSpPr txBox="1"/>
          <p:nvPr/>
        </p:nvSpPr>
        <p:spPr>
          <a:xfrm>
            <a:off x="274320" y="4187952"/>
            <a:ext cx="2011680" cy="566928"/>
          </a:xfrm>
          <a:prstGeom prst="rect">
            <a:avLst/>
          </a:prstGeom>
          <a:noFill/>
        </p:spPr>
        <p:txBody>
          <a:bodyPr wrap="square" anchor="t" lIns="18288" rIns="18288" tIns="18288" bIns="18288">
            <a:spAutoFit/>
          </a:bodyPr>
          <a:lstStyle/>
          <a:p>
            <a:pPr algn="l"/>
            <a:r>
              <a:rPr sz="1000" b="1" i="0">
                <a:solidFill>
                  <a:srgbClr val="1A1A1A"/>
                </a:solidFill>
                <a:latin typeface="Google Sans Flex"/>
              </a:rPr>
              <a:t>5. AI Guardian</a:t>
            </a:r>
          </a:p>
          <a:p>
            <a:pPr algn="l"/>
            <a:r>
              <a:rPr sz="800" b="0" i="0">
                <a:solidFill>
                  <a:srgbClr val="5F6368"/>
                </a:solidFill>
                <a:latin typeface="Google Sans Flex"/>
              </a:rPr>
              <a:t>STOP / ASK / PROCEED via REST, MCP, ADK</a:t>
            </a:r>
          </a:p>
        </p:txBody>
      </p:sp>
      <p:sp>
        <p:nvSpPr>
          <p:cNvPr id="95" name="Rounded Rectangle 94"/>
          <p:cNvSpPr/>
          <p:nvPr/>
        </p:nvSpPr>
        <p:spPr>
          <a:xfrm>
            <a:off x="2468880" y="3017520"/>
            <a:ext cx="2011680" cy="1133856"/>
          </a:xfrm>
          <a:prstGeom prst="roundRect">
            <a:avLst>
              <a:gd name="adj" fmla="val 4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6" name="Picture 95" descr="feat_5.png"/>
          <p:cNvPicPr>
            <a:picLocks noChangeAspect="1"/>
          </p:cNvPicPr>
          <p:nvPr/>
        </p:nvPicPr>
        <p:blipFill>
          <a:blip r:embed="rId10"/>
          <a:stretch>
            <a:fillRect/>
          </a:stretch>
        </p:blipFill>
        <p:spPr>
          <a:xfrm>
            <a:off x="2632323" y="3054096"/>
            <a:ext cx="1684792" cy="1060704"/>
          </a:xfrm>
          <a:prstGeom prst="rect">
            <a:avLst/>
          </a:prstGeom>
        </p:spPr>
      </p:pic>
      <p:sp>
        <p:nvSpPr>
          <p:cNvPr id="97" name="TextBox 96"/>
          <p:cNvSpPr txBox="1"/>
          <p:nvPr/>
        </p:nvSpPr>
        <p:spPr>
          <a:xfrm>
            <a:off x="2468880" y="4187952"/>
            <a:ext cx="2011680" cy="566928"/>
          </a:xfrm>
          <a:prstGeom prst="rect">
            <a:avLst/>
          </a:prstGeom>
          <a:noFill/>
        </p:spPr>
        <p:txBody>
          <a:bodyPr wrap="square" anchor="t" lIns="18288" rIns="18288" tIns="18288" bIns="18288">
            <a:spAutoFit/>
          </a:bodyPr>
          <a:lstStyle/>
          <a:p>
            <a:pPr algn="l"/>
            <a:r>
              <a:rPr sz="1000" b="1" i="0">
                <a:solidFill>
                  <a:srgbClr val="1A1A1A"/>
                </a:solidFill>
                <a:latin typeface="Google Sans Flex"/>
              </a:rPr>
              <a:t>6. Ask</a:t>
            </a:r>
          </a:p>
          <a:p>
            <a:pPr algn="l"/>
            <a:r>
              <a:rPr sz="800" b="0" i="0">
                <a:solidFill>
                  <a:srgbClr val="5F6368"/>
                </a:solidFill>
                <a:latin typeface="Google Sans Flex"/>
              </a:rPr>
              <a:t>answers only from shared maps, quoting the expert</a:t>
            </a:r>
          </a:p>
        </p:txBody>
      </p:sp>
      <p:sp>
        <p:nvSpPr>
          <p:cNvPr id="98" name="Rounded Rectangle 97"/>
          <p:cNvSpPr/>
          <p:nvPr/>
        </p:nvSpPr>
        <p:spPr>
          <a:xfrm>
            <a:off x="4663440" y="3017520"/>
            <a:ext cx="2011680" cy="1133856"/>
          </a:xfrm>
          <a:prstGeom prst="roundRect">
            <a:avLst>
              <a:gd name="adj" fmla="val 4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9" name="Picture 98" descr="09-who-should-learn.png"/>
          <p:cNvPicPr>
            <a:picLocks noChangeAspect="1"/>
          </p:cNvPicPr>
          <p:nvPr/>
        </p:nvPicPr>
        <p:blipFill>
          <a:blip r:embed="rId11"/>
          <a:stretch>
            <a:fillRect/>
          </a:stretch>
        </p:blipFill>
        <p:spPr>
          <a:xfrm>
            <a:off x="4700016" y="3267909"/>
            <a:ext cx="1938528" cy="633077"/>
          </a:xfrm>
          <a:prstGeom prst="rect">
            <a:avLst/>
          </a:prstGeom>
        </p:spPr>
      </p:pic>
      <p:sp>
        <p:nvSpPr>
          <p:cNvPr id="100" name="TextBox 99"/>
          <p:cNvSpPr txBox="1"/>
          <p:nvPr/>
        </p:nvSpPr>
        <p:spPr>
          <a:xfrm>
            <a:off x="4663440" y="4187952"/>
            <a:ext cx="2011680" cy="566928"/>
          </a:xfrm>
          <a:prstGeom prst="rect">
            <a:avLst/>
          </a:prstGeom>
          <a:noFill/>
        </p:spPr>
        <p:txBody>
          <a:bodyPr wrap="square" anchor="t" lIns="18288" rIns="18288" tIns="18288" bIns="18288">
            <a:spAutoFit/>
          </a:bodyPr>
          <a:lstStyle/>
          <a:p>
            <a:pPr algn="l"/>
            <a:r>
              <a:rPr sz="1000" b="1" i="0">
                <a:solidFill>
                  <a:srgbClr val="1A1A1A"/>
                </a:solidFill>
                <a:latin typeface="Google Sans Flex"/>
              </a:rPr>
              <a:t>7. Confirm and share</a:t>
            </a:r>
          </a:p>
          <a:p>
            <a:pPr algn="l"/>
            <a:r>
              <a:rPr sz="800" b="0" i="0">
                <a:solidFill>
                  <a:srgbClr val="5F6368"/>
                </a:solidFill>
                <a:latin typeface="Google Sans Flex"/>
              </a:rPr>
              <a:t>space, groups or people; request access</a:t>
            </a:r>
          </a:p>
        </p:txBody>
      </p:sp>
      <p:sp>
        <p:nvSpPr>
          <p:cNvPr id="101" name="Rounded Rectangle 100"/>
          <p:cNvSpPr/>
          <p:nvPr/>
        </p:nvSpPr>
        <p:spPr>
          <a:xfrm>
            <a:off x="6858000" y="3017520"/>
            <a:ext cx="2011680" cy="1133856"/>
          </a:xfrm>
          <a:prstGeom prst="roundRect">
            <a:avLst>
              <a:gd name="adj" fmla="val 4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2" name="Picture 101" descr="feat_7.png"/>
          <p:cNvPicPr>
            <a:picLocks noChangeAspect="1"/>
          </p:cNvPicPr>
          <p:nvPr/>
        </p:nvPicPr>
        <p:blipFill>
          <a:blip r:embed="rId12"/>
          <a:stretch>
            <a:fillRect/>
          </a:stretch>
        </p:blipFill>
        <p:spPr>
          <a:xfrm>
            <a:off x="7021443" y="3054096"/>
            <a:ext cx="1684792" cy="1060704"/>
          </a:xfrm>
          <a:prstGeom prst="rect">
            <a:avLst/>
          </a:prstGeom>
        </p:spPr>
      </p:pic>
      <p:sp>
        <p:nvSpPr>
          <p:cNvPr id="103" name="TextBox 102"/>
          <p:cNvSpPr txBox="1"/>
          <p:nvPr/>
        </p:nvSpPr>
        <p:spPr>
          <a:xfrm>
            <a:off x="6858000" y="4187952"/>
            <a:ext cx="2011680" cy="566928"/>
          </a:xfrm>
          <a:prstGeom prst="rect">
            <a:avLst/>
          </a:prstGeom>
          <a:noFill/>
        </p:spPr>
        <p:txBody>
          <a:bodyPr wrap="square" anchor="t" lIns="18288" rIns="18288" tIns="18288" bIns="18288">
            <a:spAutoFit/>
          </a:bodyPr>
          <a:lstStyle/>
          <a:p>
            <a:pPr algn="l"/>
            <a:r>
              <a:rPr sz="1000" b="1" i="0">
                <a:solidFill>
                  <a:srgbClr val="1A1A1A"/>
                </a:solidFill>
                <a:latin typeface="Google Sans Flex"/>
              </a:rPr>
              <a:t>8. Impact, measured</a:t>
            </a:r>
          </a:p>
          <a:p>
            <a:pPr algn="l"/>
            <a:r>
              <a:rPr sz="800" b="0" i="0">
                <a:solidFill>
                  <a:srgbClr val="5F6368"/>
                </a:solidFill>
                <a:latin typeface="Google Sans Flex"/>
              </a:rPr>
              <a:t>minutes, maps, mistakes stopped, AI cost</a:t>
            </a:r>
          </a:p>
        </p:txBody>
      </p:sp>
      <p:sp>
        <p:nvSpPr>
          <p:cNvPr id="104" name="TextBox 103"/>
          <p:cNvSpPr txBox="1"/>
          <p:nvPr/>
        </p:nvSpPr>
        <p:spPr>
          <a:xfrm>
            <a:off x="274320" y="4818888"/>
            <a:ext cx="8595360" cy="237744"/>
          </a:xfrm>
          <a:prstGeom prst="rect">
            <a:avLst/>
          </a:prstGeom>
          <a:noFill/>
        </p:spPr>
        <p:txBody>
          <a:bodyPr wrap="square" anchor="t" lIns="18288" rIns="18288" tIns="18288" bIns="18288">
            <a:spAutoFit/>
          </a:bodyPr>
          <a:lstStyle/>
          <a:p>
            <a:pPr algn="l"/>
            <a:r>
              <a:rPr sz="750" b="0" i="0">
                <a:solidFill>
                  <a:srgbClr val="5F6368"/>
                </a:solidFill>
                <a:latin typeface="Google Sans Flex"/>
              </a:rPr>
              <a:t>Also: debrief and teach-back · spaces and roles · optional space passcode · consent, masking of personal data, per-space isolation · works on phones (camera)</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sp>
        <p:nvSpPr>
          <p:cNvPr id="88" name="Rounded Rectangle 87"/>
          <p:cNvSpPr/>
          <p:nvPr/>
        </p:nvSpPr>
        <p:spPr>
          <a:xfrm>
            <a:off x="274320" y="1325880"/>
            <a:ext cx="1481328" cy="713232"/>
          </a:xfrm>
          <a:prstGeom prst="roundRect">
            <a:avLst>
              <a:gd name="adj" fmla="val 8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329184" y="1353312"/>
            <a:ext cx="1371600" cy="658368"/>
          </a:xfrm>
          <a:prstGeom prst="rect">
            <a:avLst/>
          </a:prstGeom>
          <a:noFill/>
        </p:spPr>
        <p:txBody>
          <a:bodyPr wrap="square" anchor="ctr" lIns="18288" rIns="18288" tIns="18288" bIns="18288">
            <a:spAutoFit/>
          </a:bodyPr>
          <a:lstStyle/>
          <a:p>
            <a:pPr algn="ctr"/>
            <a:r>
              <a:rPr sz="1100" b="1" i="0">
                <a:solidFill>
                  <a:srgbClr val="FFFFFF"/>
                </a:solidFill>
                <a:latin typeface="Google Sans Flex"/>
              </a:rPr>
              <a:t>Expert works</a:t>
            </a:r>
          </a:p>
          <a:p>
            <a:pPr algn="ctr"/>
            <a:r>
              <a:rPr sz="800" b="0" i="0">
                <a:solidFill>
                  <a:srgbClr val="E8E8E8"/>
                </a:solidFill>
                <a:latin typeface="Google Sans Flex"/>
              </a:rPr>
              <a:t>screen or camera</a:t>
            </a:r>
          </a:p>
        </p:txBody>
      </p:sp>
      <p:cxnSp>
        <p:nvCxnSpPr>
          <p:cNvPr id="90" name="Connector 89"/>
          <p:cNvCxnSpPr/>
          <p:nvPr/>
        </p:nvCxnSpPr>
        <p:spPr>
          <a:xfrm>
            <a:off x="1783080" y="1682495"/>
            <a:ext cx="246888" cy="0"/>
          </a:xfrm>
          <a:prstGeom prst="line">
            <a:avLst/>
          </a:prstGeom>
          <a:ln w="1905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1" name="Rounded Rectangle 90"/>
          <p:cNvSpPr/>
          <p:nvPr/>
        </p:nvSpPr>
        <p:spPr>
          <a:xfrm>
            <a:off x="2057400" y="1325880"/>
            <a:ext cx="1481328" cy="713232"/>
          </a:xfrm>
          <a:prstGeom prst="roundRect">
            <a:avLst>
              <a:gd name="adj" fmla="val 8000"/>
            </a:avLst>
          </a:prstGeom>
          <a:solidFill>
            <a:srgbClr val="B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Box 91"/>
          <p:cNvSpPr txBox="1"/>
          <p:nvPr/>
        </p:nvSpPr>
        <p:spPr>
          <a:xfrm>
            <a:off x="2112264" y="1353312"/>
            <a:ext cx="1371600" cy="658368"/>
          </a:xfrm>
          <a:prstGeom prst="rect">
            <a:avLst/>
          </a:prstGeom>
          <a:noFill/>
        </p:spPr>
        <p:txBody>
          <a:bodyPr wrap="square" anchor="ctr" lIns="18288" rIns="18288" tIns="18288" bIns="18288">
            <a:spAutoFit/>
          </a:bodyPr>
          <a:lstStyle/>
          <a:p>
            <a:pPr algn="ctr"/>
            <a:r>
              <a:rPr sz="1100" b="1" i="0">
                <a:solidFill>
                  <a:srgbClr val="FFFFFF"/>
                </a:solidFill>
                <a:latin typeface="Google Sans Flex"/>
              </a:rPr>
              <a:t>Moti asks why</a:t>
            </a:r>
          </a:p>
          <a:p>
            <a:pPr algn="ctr"/>
            <a:r>
              <a:rPr sz="800" b="0" i="0">
                <a:solidFill>
                  <a:srgbClr val="E8E8E8"/>
                </a:solidFill>
                <a:latin typeface="Google Sans Flex"/>
              </a:rPr>
              <a:t>one question at a pause</a:t>
            </a:r>
          </a:p>
        </p:txBody>
      </p:sp>
      <p:cxnSp>
        <p:nvCxnSpPr>
          <p:cNvPr id="93" name="Connector 92"/>
          <p:cNvCxnSpPr/>
          <p:nvPr/>
        </p:nvCxnSpPr>
        <p:spPr>
          <a:xfrm>
            <a:off x="3566160" y="1682495"/>
            <a:ext cx="246888" cy="0"/>
          </a:xfrm>
          <a:prstGeom prst="line">
            <a:avLst/>
          </a:prstGeom>
          <a:ln w="1905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4" name="Rounded Rectangle 93"/>
          <p:cNvSpPr/>
          <p:nvPr/>
        </p:nvSpPr>
        <p:spPr>
          <a:xfrm>
            <a:off x="3840480" y="1325880"/>
            <a:ext cx="1481328" cy="713232"/>
          </a:xfrm>
          <a:prstGeom prst="roundRect">
            <a:avLst>
              <a:gd name="adj" fmla="val 8000"/>
            </a:avLst>
          </a:prstGeom>
          <a:solidFill>
            <a:srgbClr val="1F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3895344" y="1353312"/>
            <a:ext cx="1371600" cy="658368"/>
          </a:xfrm>
          <a:prstGeom prst="rect">
            <a:avLst/>
          </a:prstGeom>
          <a:noFill/>
        </p:spPr>
        <p:txBody>
          <a:bodyPr wrap="square" anchor="ctr" lIns="18288" rIns="18288" tIns="18288" bIns="18288">
            <a:spAutoFit/>
          </a:bodyPr>
          <a:lstStyle/>
          <a:p>
            <a:pPr algn="ctr"/>
            <a:r>
              <a:rPr sz="1100" b="1" i="0">
                <a:solidFill>
                  <a:srgbClr val="FFFFFF"/>
                </a:solidFill>
                <a:latin typeface="Google Sans Flex"/>
              </a:rPr>
              <a:t>Work Map</a:t>
            </a:r>
          </a:p>
          <a:p>
            <a:pPr algn="ctr"/>
            <a:r>
              <a:rPr sz="800" b="0" i="0">
                <a:solidFill>
                  <a:srgbClr val="E8E8E8"/>
                </a:solidFill>
                <a:latin typeface="Google Sans Flex"/>
              </a:rPr>
              <a:t>verified quotes, guardrails</a:t>
            </a:r>
          </a:p>
        </p:txBody>
      </p:sp>
      <p:cxnSp>
        <p:nvCxnSpPr>
          <p:cNvPr id="96" name="Connector 95"/>
          <p:cNvCxnSpPr/>
          <p:nvPr/>
        </p:nvCxnSpPr>
        <p:spPr>
          <a:xfrm>
            <a:off x="5349240" y="1682495"/>
            <a:ext cx="246888" cy="0"/>
          </a:xfrm>
          <a:prstGeom prst="line">
            <a:avLst/>
          </a:prstGeom>
          <a:ln w="1905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7" name="Rounded Rectangle 96"/>
          <p:cNvSpPr/>
          <p:nvPr/>
        </p:nvSpPr>
        <p:spPr>
          <a:xfrm>
            <a:off x="5623560" y="1325880"/>
            <a:ext cx="1481328" cy="713232"/>
          </a:xfrm>
          <a:prstGeom prst="roundRect">
            <a:avLst>
              <a:gd name="adj" fmla="val 8000"/>
            </a:avLst>
          </a:prstGeom>
          <a:solidFill>
            <a:srgbClr val="1F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5678424" y="1353312"/>
            <a:ext cx="1371600" cy="658368"/>
          </a:xfrm>
          <a:prstGeom prst="rect">
            <a:avLst/>
          </a:prstGeom>
          <a:noFill/>
        </p:spPr>
        <p:txBody>
          <a:bodyPr wrap="square" anchor="ctr" lIns="18288" rIns="18288" tIns="18288" bIns="18288">
            <a:spAutoFit/>
          </a:bodyPr>
          <a:lstStyle/>
          <a:p>
            <a:pPr algn="ctr"/>
            <a:r>
              <a:rPr sz="1100" b="1" i="0">
                <a:solidFill>
                  <a:srgbClr val="FFFFFF"/>
                </a:solidFill>
                <a:latin typeface="Google Sans Flex"/>
              </a:rPr>
              <a:t>Debrief</a:t>
            </a:r>
          </a:p>
          <a:p>
            <a:pPr algn="ctr"/>
            <a:r>
              <a:rPr sz="800" b="0" i="0">
                <a:solidFill>
                  <a:srgbClr val="E8E8E8"/>
                </a:solidFill>
                <a:latin typeface="Google Sans Flex"/>
              </a:rPr>
              <a:t>Moti explains it back</a:t>
            </a:r>
          </a:p>
        </p:txBody>
      </p:sp>
      <p:cxnSp>
        <p:nvCxnSpPr>
          <p:cNvPr id="99" name="Connector 98"/>
          <p:cNvCxnSpPr/>
          <p:nvPr/>
        </p:nvCxnSpPr>
        <p:spPr>
          <a:xfrm>
            <a:off x="7132320" y="1682495"/>
            <a:ext cx="246888" cy="0"/>
          </a:xfrm>
          <a:prstGeom prst="line">
            <a:avLst/>
          </a:prstGeom>
          <a:ln w="1905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0" name="Rounded Rectangle 99"/>
          <p:cNvSpPr/>
          <p:nvPr/>
        </p:nvSpPr>
        <p:spPr>
          <a:xfrm>
            <a:off x="7406640" y="1325880"/>
            <a:ext cx="1481328" cy="713232"/>
          </a:xfrm>
          <a:prstGeom prst="roundRect">
            <a:avLst>
              <a:gd name="adj" fmla="val 8000"/>
            </a:avLst>
          </a:prstGeom>
          <a:solidFill>
            <a:srgbClr val="1E7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Box 100"/>
          <p:cNvSpPr txBox="1"/>
          <p:nvPr/>
        </p:nvSpPr>
        <p:spPr>
          <a:xfrm>
            <a:off x="7461504" y="1353312"/>
            <a:ext cx="1371600" cy="658368"/>
          </a:xfrm>
          <a:prstGeom prst="rect">
            <a:avLst/>
          </a:prstGeom>
          <a:noFill/>
        </p:spPr>
        <p:txBody>
          <a:bodyPr wrap="square" anchor="ctr" lIns="18288" rIns="18288" tIns="18288" bIns="18288">
            <a:spAutoFit/>
          </a:bodyPr>
          <a:lstStyle/>
          <a:p>
            <a:pPr algn="ctr"/>
            <a:r>
              <a:rPr sz="1100" b="1" i="0">
                <a:solidFill>
                  <a:srgbClr val="FFFFFF"/>
                </a:solidFill>
                <a:latin typeface="Google Sans Flex"/>
              </a:rPr>
              <a:t>Expert confirms</a:t>
            </a:r>
          </a:p>
          <a:p>
            <a:pPr algn="ctr"/>
            <a:r>
              <a:rPr sz="800" b="0" i="0">
                <a:solidFill>
                  <a:srgbClr val="E8E8E8"/>
                </a:solidFill>
                <a:latin typeface="Google Sans Flex"/>
              </a:rPr>
              <a:t>and chooses who learns</a:t>
            </a:r>
          </a:p>
        </p:txBody>
      </p:sp>
      <p:cxnSp>
        <p:nvCxnSpPr>
          <p:cNvPr id="102" name="Connector 101"/>
          <p:cNvCxnSpPr/>
          <p:nvPr/>
        </p:nvCxnSpPr>
        <p:spPr>
          <a:xfrm>
            <a:off x="8147304" y="2039112"/>
            <a:ext cx="0" cy="292608"/>
          </a:xfrm>
          <a:prstGeom prst="line">
            <a:avLst/>
          </a:prstGeom>
          <a:ln w="19050">
            <a:solidFill>
              <a:srgbClr val="1E7A4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874519" y="2331720"/>
            <a:ext cx="6272785" cy="0"/>
          </a:xfrm>
          <a:prstGeom prst="line">
            <a:avLst/>
          </a:prstGeom>
          <a:ln w="19050">
            <a:solidFill>
              <a:srgbClr val="1E7A4C"/>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1874519" y="2331720"/>
            <a:ext cx="0" cy="155448"/>
          </a:xfrm>
          <a:prstGeom prst="line">
            <a:avLst/>
          </a:prstGeom>
          <a:ln w="19050">
            <a:solidFill>
              <a:srgbClr val="1E7A4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5" name="Rounded Rectangle 104"/>
          <p:cNvSpPr/>
          <p:nvPr/>
        </p:nvSpPr>
        <p:spPr>
          <a:xfrm>
            <a:off x="822960" y="2514600"/>
            <a:ext cx="2103120" cy="1691640"/>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Box 105"/>
          <p:cNvSpPr txBox="1"/>
          <p:nvPr/>
        </p:nvSpPr>
        <p:spPr>
          <a:xfrm>
            <a:off x="914400" y="2542032"/>
            <a:ext cx="1920240" cy="411480"/>
          </a:xfrm>
          <a:prstGeom prst="rect">
            <a:avLst/>
          </a:prstGeom>
          <a:noFill/>
        </p:spPr>
        <p:txBody>
          <a:bodyPr wrap="square" anchor="t" lIns="18288" rIns="18288" tIns="18288" bIns="18288">
            <a:spAutoFit/>
          </a:bodyPr>
          <a:lstStyle/>
          <a:p>
            <a:pPr algn="l"/>
            <a:r>
              <a:rPr sz="1050" b="1" i="0">
                <a:solidFill>
                  <a:srgbClr val="1A1A1A"/>
                </a:solidFill>
                <a:latin typeface="Google Sans Flex"/>
              </a:rPr>
              <a:t>Learners practise</a:t>
            </a:r>
          </a:p>
          <a:p>
            <a:pPr algn="l"/>
            <a:r>
              <a:rPr sz="750" b="0" i="0">
                <a:solidFill>
                  <a:srgbClr val="5F6368"/>
                </a:solidFill>
                <a:latin typeface="Google Sans Flex"/>
              </a:rPr>
              <a:t>Moti stops mistakes, in their language</a:t>
            </a:r>
          </a:p>
        </p:txBody>
      </p:sp>
      <p:pic>
        <p:nvPicPr>
          <p:cNvPr id="107" name="Picture 106" descr="13-tutor-stops.png"/>
          <p:cNvPicPr>
            <a:picLocks noChangeAspect="1"/>
          </p:cNvPicPr>
          <p:nvPr/>
        </p:nvPicPr>
        <p:blipFill>
          <a:blip r:embed="rId5"/>
          <a:stretch>
            <a:fillRect/>
          </a:stretch>
        </p:blipFill>
        <p:spPr>
          <a:xfrm>
            <a:off x="966765" y="2990088"/>
            <a:ext cx="1815509" cy="1143000"/>
          </a:xfrm>
          <a:prstGeom prst="rect">
            <a:avLst/>
          </a:prstGeom>
          <a:ln w="9525">
            <a:solidFill>
              <a:srgbClr val="E2D9CB"/>
            </a:solidFill>
          </a:ln>
        </p:spPr>
      </p:pic>
      <p:cxnSp>
        <p:nvCxnSpPr>
          <p:cNvPr id="108" name="Connector 107"/>
          <p:cNvCxnSpPr/>
          <p:nvPr/>
        </p:nvCxnSpPr>
        <p:spPr>
          <a:xfrm>
            <a:off x="4572000" y="2331720"/>
            <a:ext cx="0" cy="155448"/>
          </a:xfrm>
          <a:prstGeom prst="line">
            <a:avLst/>
          </a:prstGeom>
          <a:ln w="19050">
            <a:solidFill>
              <a:srgbClr val="1E7A4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9" name="Rounded Rectangle 108"/>
          <p:cNvSpPr/>
          <p:nvPr/>
        </p:nvSpPr>
        <p:spPr>
          <a:xfrm>
            <a:off x="3520440" y="2514600"/>
            <a:ext cx="2103120" cy="1691640"/>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Box 109"/>
          <p:cNvSpPr txBox="1"/>
          <p:nvPr/>
        </p:nvSpPr>
        <p:spPr>
          <a:xfrm>
            <a:off x="3611880" y="2542032"/>
            <a:ext cx="1920240" cy="411480"/>
          </a:xfrm>
          <a:prstGeom prst="rect">
            <a:avLst/>
          </a:prstGeom>
          <a:noFill/>
        </p:spPr>
        <p:txBody>
          <a:bodyPr wrap="square" anchor="t" lIns="18288" rIns="18288" tIns="18288" bIns="18288">
            <a:spAutoFit/>
          </a:bodyPr>
          <a:lstStyle/>
          <a:p>
            <a:pPr algn="l"/>
            <a:r>
              <a:rPr sz="1050" b="1" i="0">
                <a:solidFill>
                  <a:srgbClr val="1A1A1A"/>
                </a:solidFill>
                <a:latin typeface="Google Sans Flex"/>
              </a:rPr>
              <a:t>Listen and Ask</a:t>
            </a:r>
          </a:p>
          <a:p>
            <a:pPr algn="l"/>
            <a:r>
              <a:rPr sz="750" b="0" i="0">
                <a:solidFill>
                  <a:srgbClr val="5F6368"/>
                </a:solidFill>
                <a:latin typeface="Google Sans Flex"/>
              </a:rPr>
              <a:t>15 languages; answers quote the expert</a:t>
            </a:r>
          </a:p>
        </p:txBody>
      </p:sp>
      <p:pic>
        <p:nvPicPr>
          <p:cNvPr id="111" name="Picture 110" descr="10-listen-hindi.png"/>
          <p:cNvPicPr>
            <a:picLocks noChangeAspect="1"/>
          </p:cNvPicPr>
          <p:nvPr/>
        </p:nvPicPr>
        <p:blipFill>
          <a:blip r:embed="rId6"/>
          <a:stretch>
            <a:fillRect/>
          </a:stretch>
        </p:blipFill>
        <p:spPr>
          <a:xfrm>
            <a:off x="3611880" y="3123695"/>
            <a:ext cx="1920240" cy="875785"/>
          </a:xfrm>
          <a:prstGeom prst="rect">
            <a:avLst/>
          </a:prstGeom>
          <a:ln w="9525">
            <a:solidFill>
              <a:srgbClr val="E2D9CB"/>
            </a:solidFill>
          </a:ln>
        </p:spPr>
      </p:pic>
      <p:cxnSp>
        <p:nvCxnSpPr>
          <p:cNvPr id="112" name="Connector 111"/>
          <p:cNvCxnSpPr/>
          <p:nvPr/>
        </p:nvCxnSpPr>
        <p:spPr>
          <a:xfrm>
            <a:off x="7269479" y="2331720"/>
            <a:ext cx="0" cy="155448"/>
          </a:xfrm>
          <a:prstGeom prst="line">
            <a:avLst/>
          </a:prstGeom>
          <a:ln w="19050">
            <a:solidFill>
              <a:srgbClr val="1E7A4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3" name="Rounded Rectangle 112"/>
          <p:cNvSpPr/>
          <p:nvPr/>
        </p:nvSpPr>
        <p:spPr>
          <a:xfrm>
            <a:off x="6217920" y="2514600"/>
            <a:ext cx="2103120" cy="1691640"/>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Box 113"/>
          <p:cNvSpPr txBox="1"/>
          <p:nvPr/>
        </p:nvSpPr>
        <p:spPr>
          <a:xfrm>
            <a:off x="6309359" y="2542032"/>
            <a:ext cx="1920240" cy="411480"/>
          </a:xfrm>
          <a:prstGeom prst="rect">
            <a:avLst/>
          </a:prstGeom>
          <a:noFill/>
        </p:spPr>
        <p:txBody>
          <a:bodyPr wrap="square" anchor="t" lIns="18288" rIns="18288" tIns="18288" bIns="18288">
            <a:spAutoFit/>
          </a:bodyPr>
          <a:lstStyle/>
          <a:p>
            <a:pPr algn="l"/>
            <a:r>
              <a:rPr sz="1050" b="1" i="0">
                <a:solidFill>
                  <a:srgbClr val="1A1A1A"/>
                </a:solidFill>
                <a:latin typeface="Google Sans Flex"/>
              </a:rPr>
              <a:t>AI agents check</a:t>
            </a:r>
          </a:p>
          <a:p>
            <a:pPr algn="l"/>
            <a:r>
              <a:rPr sz="750" b="0" i="0">
                <a:solidFill>
                  <a:srgbClr val="5F6368"/>
                </a:solidFill>
                <a:latin typeface="Google Sans Flex"/>
              </a:rPr>
              <a:t>"Would the expert stop here?"</a:t>
            </a:r>
          </a:p>
        </p:txBody>
      </p:sp>
      <p:pic>
        <p:nvPicPr>
          <p:cNvPr id="115" name="Picture 114" descr="11-would-asha-stop.png"/>
          <p:cNvPicPr>
            <a:picLocks noChangeAspect="1"/>
          </p:cNvPicPr>
          <p:nvPr/>
        </p:nvPicPr>
        <p:blipFill>
          <a:blip r:embed="rId7"/>
          <a:stretch>
            <a:fillRect/>
          </a:stretch>
        </p:blipFill>
        <p:spPr>
          <a:xfrm>
            <a:off x="6309359" y="3132345"/>
            <a:ext cx="1920240" cy="858485"/>
          </a:xfrm>
          <a:prstGeom prst="rect">
            <a:avLst/>
          </a:prstGeom>
          <a:ln w="9525">
            <a:solidFill>
              <a:srgbClr val="E2D9CB"/>
            </a:solidFill>
          </a:ln>
        </p:spPr>
      </p:pic>
      <p:sp>
        <p:nvSpPr>
          <p:cNvPr id="116" name="Rounded Rectangle 115"/>
          <p:cNvSpPr/>
          <p:nvPr/>
        </p:nvSpPr>
        <p:spPr>
          <a:xfrm>
            <a:off x="3520440" y="4334256"/>
            <a:ext cx="2103120" cy="411480"/>
          </a:xfrm>
          <a:prstGeom prst="roundRect">
            <a:avLst>
              <a:gd name="adj" fmla="val 8000"/>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Box 116"/>
          <p:cNvSpPr txBox="1"/>
          <p:nvPr/>
        </p:nvSpPr>
        <p:spPr>
          <a:xfrm>
            <a:off x="3575304" y="4361688"/>
            <a:ext cx="1993391" cy="356616"/>
          </a:xfrm>
          <a:prstGeom prst="rect">
            <a:avLst/>
          </a:prstGeom>
          <a:noFill/>
        </p:spPr>
        <p:txBody>
          <a:bodyPr wrap="square" anchor="ctr" lIns="18288" rIns="18288" tIns="18288" bIns="18288">
            <a:spAutoFit/>
          </a:bodyPr>
          <a:lstStyle/>
          <a:p>
            <a:pPr algn="ctr"/>
            <a:r>
              <a:rPr sz="1050" b="1" i="0">
                <a:solidFill>
                  <a:srgbClr val="FFFFFF"/>
                </a:solidFill>
                <a:latin typeface="Google Sans Flex"/>
              </a:rPr>
              <a:t>Impact, measured</a:t>
            </a:r>
          </a:p>
        </p:txBody>
      </p:sp>
      <p:cxnSp>
        <p:nvCxnSpPr>
          <p:cNvPr id="118" name="Connector 117"/>
          <p:cNvCxnSpPr/>
          <p:nvPr/>
        </p:nvCxnSpPr>
        <p:spPr>
          <a:xfrm>
            <a:off x="1874519" y="4206240"/>
            <a:ext cx="0" cy="54864"/>
          </a:xfrm>
          <a:prstGeom prst="line">
            <a:avLst/>
          </a:prstGeom>
          <a:ln w="15875">
            <a:solidFill>
              <a:srgbClr val="B8860B"/>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4572000" y="4206240"/>
            <a:ext cx="0" cy="54864"/>
          </a:xfrm>
          <a:prstGeom prst="line">
            <a:avLst/>
          </a:prstGeom>
          <a:ln w="15875">
            <a:solidFill>
              <a:srgbClr val="B8860B"/>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7269479" y="4206240"/>
            <a:ext cx="0" cy="54864"/>
          </a:xfrm>
          <a:prstGeom prst="line">
            <a:avLst/>
          </a:prstGeom>
          <a:ln w="15875">
            <a:solidFill>
              <a:srgbClr val="B8860B"/>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874519" y="4261104"/>
            <a:ext cx="5394960" cy="0"/>
          </a:xfrm>
          <a:prstGeom prst="line">
            <a:avLst/>
          </a:prstGeom>
          <a:ln w="15875">
            <a:solidFill>
              <a:srgbClr val="B8860B"/>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274320" y="4352544"/>
            <a:ext cx="3108960" cy="457200"/>
          </a:xfrm>
          <a:prstGeom prst="rect">
            <a:avLst/>
          </a:prstGeom>
          <a:noFill/>
        </p:spPr>
        <p:txBody>
          <a:bodyPr wrap="square" anchor="t" lIns="18288" rIns="18288" tIns="18288" bIns="18288">
            <a:spAutoFit/>
          </a:bodyPr>
          <a:lstStyle/>
          <a:p>
            <a:pPr algn="l"/>
            <a:r>
              <a:rPr sz="850" b="1" i="0">
                <a:solidFill>
                  <a:srgbClr val="1A1A1A"/>
                </a:solidFill>
                <a:latin typeface="Google Sans Flex"/>
              </a:rPr>
              <a:t>Work: </a:t>
            </a:r>
            <a:r>
              <a:rPr sz="850" b="0" i="0">
                <a:solidFill>
                  <a:srgbClr val="5F6368"/>
                </a:solidFill>
                <a:latin typeface="Google Sans Flex"/>
              </a:rPr>
              <a:t>accounts payable, IT runbooks, escalations, a retiring specialist</a:t>
            </a:r>
          </a:p>
        </p:txBody>
      </p:sp>
      <p:sp>
        <p:nvSpPr>
          <p:cNvPr id="123" name="TextBox 122"/>
          <p:cNvSpPr txBox="1"/>
          <p:nvPr/>
        </p:nvSpPr>
        <p:spPr>
          <a:xfrm>
            <a:off x="5760720" y="4352544"/>
            <a:ext cx="3108960" cy="457200"/>
          </a:xfrm>
          <a:prstGeom prst="rect">
            <a:avLst/>
          </a:prstGeom>
          <a:noFill/>
        </p:spPr>
        <p:txBody>
          <a:bodyPr wrap="square" anchor="t" lIns="18288" rIns="18288" tIns="18288" bIns="18288">
            <a:spAutoFit/>
          </a:bodyPr>
          <a:lstStyle/>
          <a:p>
            <a:pPr algn="l"/>
            <a:r>
              <a:rPr sz="850" b="1" i="0">
                <a:solidFill>
                  <a:srgbClr val="1A1A1A"/>
                </a:solidFill>
                <a:latin typeface="Google Sans Flex"/>
              </a:rPr>
              <a:t>Culture: </a:t>
            </a:r>
            <a:r>
              <a:rPr sz="850" b="0" i="0">
                <a:solidFill>
                  <a:srgbClr val="5F6368"/>
                </a:solidFill>
                <a:latin typeface="Google Sans Flex"/>
              </a:rPr>
              <a:t>a Kathak guru's footwork, a weaver's loom, a family recipe in Marathi</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pic>
        <p:nvPicPr>
          <p:cNvPr id="96" name="Picture 95" descr="04-consent.png"/>
          <p:cNvPicPr>
            <a:picLocks noChangeAspect="1"/>
          </p:cNvPicPr>
          <p:nvPr/>
        </p:nvPicPr>
        <p:blipFill>
          <a:blip r:embed="rId5"/>
          <a:stretch>
            <a:fillRect/>
          </a:stretch>
        </p:blipFill>
        <p:spPr>
          <a:xfrm>
            <a:off x="274320" y="1408048"/>
            <a:ext cx="1554480" cy="978662"/>
          </a:xfrm>
          <a:prstGeom prst="rect">
            <a:avLst/>
          </a:prstGeom>
          <a:ln w="9525">
            <a:solidFill>
              <a:srgbClr val="E2D9CB"/>
            </a:solidFill>
          </a:ln>
        </p:spPr>
      </p:pic>
      <p:sp>
        <p:nvSpPr>
          <p:cNvPr id="97" name="TextBox 96"/>
          <p:cNvSpPr txBox="1"/>
          <p:nvPr/>
        </p:nvSpPr>
        <p:spPr>
          <a:xfrm>
            <a:off x="274320" y="2542032"/>
            <a:ext cx="1554480" cy="457200"/>
          </a:xfrm>
          <a:prstGeom prst="rect">
            <a:avLst/>
          </a:prstGeom>
          <a:noFill/>
        </p:spPr>
        <p:txBody>
          <a:bodyPr wrap="square" anchor="t" lIns="18288" rIns="18288" tIns="18288" bIns="18288">
            <a:spAutoFit/>
          </a:bodyPr>
          <a:lstStyle/>
          <a:p>
            <a:pPr algn="ctr"/>
            <a:r>
              <a:rPr sz="1000" b="1" i="0">
                <a:solidFill>
                  <a:srgbClr val="1A1A1A"/>
                </a:solidFill>
                <a:latin typeface="Google Sans Flex"/>
              </a:rPr>
              <a:t>1 Consent</a:t>
            </a:r>
          </a:p>
          <a:p>
            <a:pPr algn="ctr"/>
            <a:r>
              <a:rPr sz="800" b="0" i="0">
                <a:solidFill>
                  <a:srgbClr val="5F6368"/>
                </a:solidFill>
                <a:latin typeface="Google Sans Flex"/>
              </a:rPr>
              <a:t>what is captured, who sees it</a:t>
            </a:r>
          </a:p>
        </p:txBody>
      </p:sp>
      <p:cxnSp>
        <p:nvCxnSpPr>
          <p:cNvPr id="98" name="Connector 97"/>
          <p:cNvCxnSpPr/>
          <p:nvPr/>
        </p:nvCxnSpPr>
        <p:spPr>
          <a:xfrm>
            <a:off x="1847088" y="1892807"/>
            <a:ext cx="164592" cy="0"/>
          </a:xfrm>
          <a:prstGeom prst="line">
            <a:avLst/>
          </a:prstGeom>
          <a:ln w="1905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99" name="Picture 98" descr="05-live-capture.png"/>
          <p:cNvPicPr>
            <a:picLocks noChangeAspect="1"/>
          </p:cNvPicPr>
          <p:nvPr/>
        </p:nvPicPr>
        <p:blipFill>
          <a:blip r:embed="rId6"/>
          <a:stretch>
            <a:fillRect/>
          </a:stretch>
        </p:blipFill>
        <p:spPr>
          <a:xfrm>
            <a:off x="2029967" y="1408048"/>
            <a:ext cx="1554480" cy="978662"/>
          </a:xfrm>
          <a:prstGeom prst="rect">
            <a:avLst/>
          </a:prstGeom>
          <a:ln w="9525">
            <a:solidFill>
              <a:srgbClr val="E2D9CB"/>
            </a:solidFill>
          </a:ln>
        </p:spPr>
      </p:pic>
      <p:sp>
        <p:nvSpPr>
          <p:cNvPr id="100" name="TextBox 99"/>
          <p:cNvSpPr txBox="1"/>
          <p:nvPr/>
        </p:nvSpPr>
        <p:spPr>
          <a:xfrm>
            <a:off x="2029967" y="2542032"/>
            <a:ext cx="1554480" cy="457200"/>
          </a:xfrm>
          <a:prstGeom prst="rect">
            <a:avLst/>
          </a:prstGeom>
          <a:noFill/>
        </p:spPr>
        <p:txBody>
          <a:bodyPr wrap="square" anchor="t" lIns="18288" rIns="18288" tIns="18288" bIns="18288">
            <a:spAutoFit/>
          </a:bodyPr>
          <a:lstStyle/>
          <a:p>
            <a:pPr algn="ctr"/>
            <a:r>
              <a:rPr sz="1000" b="1" i="0">
                <a:solidFill>
                  <a:srgbClr val="1A1A1A"/>
                </a:solidFill>
                <a:latin typeface="Google Sans Flex"/>
              </a:rPr>
              <a:t>2 Moti asks</a:t>
            </a:r>
          </a:p>
          <a:p>
            <a:pPr algn="ctr"/>
            <a:r>
              <a:rPr sz="800" b="0" i="0">
                <a:solidFill>
                  <a:srgbClr val="5F6368"/>
                </a:solidFill>
                <a:latin typeface="Google Sans Flex"/>
              </a:rPr>
              <a:t>at a pause, by voice</a:t>
            </a:r>
          </a:p>
        </p:txBody>
      </p:sp>
      <p:cxnSp>
        <p:nvCxnSpPr>
          <p:cNvPr id="101" name="Connector 100"/>
          <p:cNvCxnSpPr/>
          <p:nvPr/>
        </p:nvCxnSpPr>
        <p:spPr>
          <a:xfrm>
            <a:off x="3602736" y="1892807"/>
            <a:ext cx="164592" cy="0"/>
          </a:xfrm>
          <a:prstGeom prst="line">
            <a:avLst/>
          </a:prstGeom>
          <a:ln w="1905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02" name="Picture 101" descr="07-work-map.png"/>
          <p:cNvPicPr>
            <a:picLocks noChangeAspect="1"/>
          </p:cNvPicPr>
          <p:nvPr/>
        </p:nvPicPr>
        <p:blipFill>
          <a:blip r:embed="rId7"/>
          <a:stretch>
            <a:fillRect/>
          </a:stretch>
        </p:blipFill>
        <p:spPr>
          <a:xfrm>
            <a:off x="3785615" y="1408048"/>
            <a:ext cx="1554480" cy="978662"/>
          </a:xfrm>
          <a:prstGeom prst="rect">
            <a:avLst/>
          </a:prstGeom>
          <a:ln w="9525">
            <a:solidFill>
              <a:srgbClr val="E2D9CB"/>
            </a:solidFill>
          </a:ln>
        </p:spPr>
      </p:pic>
      <p:sp>
        <p:nvSpPr>
          <p:cNvPr id="103" name="TextBox 102"/>
          <p:cNvSpPr txBox="1"/>
          <p:nvPr/>
        </p:nvSpPr>
        <p:spPr>
          <a:xfrm>
            <a:off x="3785615" y="2542032"/>
            <a:ext cx="1554480" cy="457200"/>
          </a:xfrm>
          <a:prstGeom prst="rect">
            <a:avLst/>
          </a:prstGeom>
          <a:noFill/>
        </p:spPr>
        <p:txBody>
          <a:bodyPr wrap="square" anchor="t" lIns="18288" rIns="18288" tIns="18288" bIns="18288">
            <a:spAutoFit/>
          </a:bodyPr>
          <a:lstStyle/>
          <a:p>
            <a:pPr algn="ctr"/>
            <a:r>
              <a:rPr sz="1000" b="1" i="0">
                <a:solidFill>
                  <a:srgbClr val="1A1A1A"/>
                </a:solidFill>
                <a:latin typeface="Google Sans Flex"/>
              </a:rPr>
              <a:t>3 Work Map</a:t>
            </a:r>
          </a:p>
          <a:p>
            <a:pPr algn="ctr"/>
            <a:r>
              <a:rPr sz="800" b="0" i="0">
                <a:solidFill>
                  <a:srgbClr val="5F6368"/>
                </a:solidFill>
                <a:latin typeface="Google Sans Flex"/>
              </a:rPr>
              <a:t>steps, quotes, guardrails</a:t>
            </a:r>
          </a:p>
        </p:txBody>
      </p:sp>
      <p:cxnSp>
        <p:nvCxnSpPr>
          <p:cNvPr id="104" name="Connector 103"/>
          <p:cNvCxnSpPr/>
          <p:nvPr/>
        </p:nvCxnSpPr>
        <p:spPr>
          <a:xfrm>
            <a:off x="5358383" y="1892807"/>
            <a:ext cx="164593" cy="0"/>
          </a:xfrm>
          <a:prstGeom prst="line">
            <a:avLst/>
          </a:prstGeom>
          <a:ln w="1905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05" name="Picture 104" descr="09-who-should-learn.png"/>
          <p:cNvPicPr>
            <a:picLocks noChangeAspect="1"/>
          </p:cNvPicPr>
          <p:nvPr/>
        </p:nvPicPr>
        <p:blipFill>
          <a:blip r:embed="rId8"/>
          <a:stretch>
            <a:fillRect/>
          </a:stretch>
        </p:blipFill>
        <p:spPr>
          <a:xfrm>
            <a:off x="5541264" y="1643551"/>
            <a:ext cx="1554480" cy="507656"/>
          </a:xfrm>
          <a:prstGeom prst="rect">
            <a:avLst/>
          </a:prstGeom>
          <a:ln w="9525">
            <a:solidFill>
              <a:srgbClr val="E2D9CB"/>
            </a:solidFill>
          </a:ln>
        </p:spPr>
      </p:pic>
      <p:sp>
        <p:nvSpPr>
          <p:cNvPr id="106" name="TextBox 105"/>
          <p:cNvSpPr txBox="1"/>
          <p:nvPr/>
        </p:nvSpPr>
        <p:spPr>
          <a:xfrm>
            <a:off x="5541264" y="2542032"/>
            <a:ext cx="1554480" cy="457200"/>
          </a:xfrm>
          <a:prstGeom prst="rect">
            <a:avLst/>
          </a:prstGeom>
          <a:noFill/>
        </p:spPr>
        <p:txBody>
          <a:bodyPr wrap="square" anchor="t" lIns="18288" rIns="18288" tIns="18288" bIns="18288">
            <a:spAutoFit/>
          </a:bodyPr>
          <a:lstStyle/>
          <a:p>
            <a:pPr algn="ctr"/>
            <a:r>
              <a:rPr sz="1000" b="1" i="0">
                <a:solidFill>
                  <a:srgbClr val="1A1A1A"/>
                </a:solidFill>
                <a:latin typeface="Google Sans Flex"/>
              </a:rPr>
              <a:t>4 Confirm, share</a:t>
            </a:r>
          </a:p>
          <a:p>
            <a:pPr algn="ctr"/>
            <a:r>
              <a:rPr sz="800" b="0" i="0">
                <a:solidFill>
                  <a:srgbClr val="5F6368"/>
                </a:solidFill>
                <a:latin typeface="Google Sans Flex"/>
              </a:rPr>
              <a:t>who learns from this</a:t>
            </a:r>
          </a:p>
        </p:txBody>
      </p:sp>
      <p:cxnSp>
        <p:nvCxnSpPr>
          <p:cNvPr id="107" name="Connector 106"/>
          <p:cNvCxnSpPr/>
          <p:nvPr/>
        </p:nvCxnSpPr>
        <p:spPr>
          <a:xfrm>
            <a:off x="7114031" y="1892807"/>
            <a:ext cx="164593" cy="0"/>
          </a:xfrm>
          <a:prstGeom prst="line">
            <a:avLst/>
          </a:prstGeom>
          <a:ln w="1905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08" name="Picture 107" descr="13-tutor-stops.png"/>
          <p:cNvPicPr>
            <a:picLocks noChangeAspect="1"/>
          </p:cNvPicPr>
          <p:nvPr/>
        </p:nvPicPr>
        <p:blipFill>
          <a:blip r:embed="rId9"/>
          <a:stretch>
            <a:fillRect/>
          </a:stretch>
        </p:blipFill>
        <p:spPr>
          <a:xfrm>
            <a:off x="7296912" y="1408048"/>
            <a:ext cx="1554480" cy="978662"/>
          </a:xfrm>
          <a:prstGeom prst="rect">
            <a:avLst/>
          </a:prstGeom>
          <a:ln w="9525">
            <a:solidFill>
              <a:srgbClr val="E2D9CB"/>
            </a:solidFill>
          </a:ln>
        </p:spPr>
      </p:pic>
      <p:sp>
        <p:nvSpPr>
          <p:cNvPr id="109" name="TextBox 108"/>
          <p:cNvSpPr txBox="1"/>
          <p:nvPr/>
        </p:nvSpPr>
        <p:spPr>
          <a:xfrm>
            <a:off x="7296912" y="2542032"/>
            <a:ext cx="1554480" cy="457200"/>
          </a:xfrm>
          <a:prstGeom prst="rect">
            <a:avLst/>
          </a:prstGeom>
          <a:noFill/>
        </p:spPr>
        <p:txBody>
          <a:bodyPr wrap="square" anchor="t" lIns="18288" rIns="18288" tIns="18288" bIns="18288">
            <a:spAutoFit/>
          </a:bodyPr>
          <a:lstStyle/>
          <a:p>
            <a:pPr algn="ctr"/>
            <a:r>
              <a:rPr sz="1000" b="1" i="0">
                <a:solidFill>
                  <a:srgbClr val="1A1A1A"/>
                </a:solidFill>
                <a:latin typeface="Google Sans Flex"/>
              </a:rPr>
              <a:t>5 Practise</a:t>
            </a:r>
          </a:p>
          <a:p>
            <a:pPr algn="ctr"/>
            <a:r>
              <a:rPr sz="800" b="0" i="0">
                <a:solidFill>
                  <a:srgbClr val="5F6368"/>
                </a:solidFill>
                <a:latin typeface="Google Sans Flex"/>
              </a:rPr>
              <a:t>Moti stops a mistake</a:t>
            </a:r>
          </a:p>
        </p:txBody>
      </p:sp>
      <p:pic>
        <p:nvPicPr>
          <p:cNvPr id="110" name="Picture 109" descr="photo_real-culture-capture.jpg_1.55x1.80.jpg"/>
          <p:cNvPicPr>
            <a:picLocks noChangeAspect="1"/>
          </p:cNvPicPr>
          <p:nvPr/>
        </p:nvPicPr>
        <p:blipFill>
          <a:blip r:embed="rId10"/>
          <a:stretch>
            <a:fillRect/>
          </a:stretch>
        </p:blipFill>
        <p:spPr>
          <a:xfrm>
            <a:off x="274320" y="3108960"/>
            <a:ext cx="1417320" cy="1645920"/>
          </a:xfrm>
          <a:prstGeom prst="rect">
            <a:avLst/>
          </a:prstGeom>
        </p:spPr>
      </p:pic>
      <p:pic>
        <p:nvPicPr>
          <p:cNvPr id="111" name="Picture 110" descr="photo_real-practice.jpg_2.40x1.80.jpg"/>
          <p:cNvPicPr>
            <a:picLocks noChangeAspect="1"/>
          </p:cNvPicPr>
          <p:nvPr/>
        </p:nvPicPr>
        <p:blipFill>
          <a:blip r:embed="rId11"/>
          <a:stretch>
            <a:fillRect/>
          </a:stretch>
        </p:blipFill>
        <p:spPr>
          <a:xfrm>
            <a:off x="1783080" y="3108960"/>
            <a:ext cx="2194560" cy="1645920"/>
          </a:xfrm>
          <a:prstGeom prst="rect">
            <a:avLst/>
          </a:prstGeom>
        </p:spPr>
      </p:pic>
      <p:pic>
        <p:nvPicPr>
          <p:cNvPr id="112" name="Picture 111" descr="photo_real-work-expert.jpg_1.55x1.80.jpg"/>
          <p:cNvPicPr>
            <a:picLocks noChangeAspect="1"/>
          </p:cNvPicPr>
          <p:nvPr/>
        </p:nvPicPr>
        <p:blipFill>
          <a:blip r:embed="rId12"/>
          <a:stretch>
            <a:fillRect/>
          </a:stretch>
        </p:blipFill>
        <p:spPr>
          <a:xfrm>
            <a:off x="4069080" y="3108960"/>
            <a:ext cx="1417320" cy="1645920"/>
          </a:xfrm>
          <a:prstGeom prst="rect">
            <a:avLst/>
          </a:prstGeom>
        </p:spPr>
      </p:pic>
      <p:sp>
        <p:nvSpPr>
          <p:cNvPr id="113" name="TextBox 112"/>
          <p:cNvSpPr txBox="1"/>
          <p:nvPr/>
        </p:nvSpPr>
        <p:spPr>
          <a:xfrm>
            <a:off x="274320" y="4773168"/>
            <a:ext cx="5486400" cy="182880"/>
          </a:xfrm>
          <a:prstGeom prst="rect">
            <a:avLst/>
          </a:prstGeom>
          <a:noFill/>
        </p:spPr>
        <p:txBody>
          <a:bodyPr wrap="square" anchor="t" lIns="18288" rIns="18288" tIns="18288" bIns="18288">
            <a:spAutoFit/>
          </a:bodyPr>
          <a:lstStyle/>
          <a:p>
            <a:pPr algn="l"/>
            <a:r>
              <a:rPr sz="750" b="0" i="1">
                <a:solidFill>
                  <a:srgbClr val="5F6368"/>
                </a:solidFill>
                <a:latin typeface="Google Sans Flex"/>
              </a:rPr>
              <a:t>In real use: Bharati records with Moti · Kiran practises with Moti · an expert shares her screen</a:t>
            </a:r>
          </a:p>
        </p:txBody>
      </p:sp>
      <p:sp>
        <p:nvSpPr>
          <p:cNvPr id="114" name="TextBox 113"/>
          <p:cNvSpPr txBox="1"/>
          <p:nvPr/>
        </p:nvSpPr>
        <p:spPr>
          <a:xfrm>
            <a:off x="5715000" y="3154680"/>
            <a:ext cx="3154680" cy="1554480"/>
          </a:xfrm>
          <a:prstGeom prst="rect">
            <a:avLst/>
          </a:prstGeom>
          <a:noFill/>
        </p:spPr>
        <p:txBody>
          <a:bodyPr wrap="square" anchor="t" lIns="18288" rIns="18288" tIns="18288" bIns="18288">
            <a:spAutoFit/>
          </a:bodyPr>
          <a:lstStyle/>
          <a:p>
            <a:pPr algn="l">
              <a:spcAft>
                <a:spcPts val="400"/>
              </a:spcAft>
            </a:pPr>
            <a:r>
              <a:rPr sz="1000" b="1" i="0">
                <a:solidFill>
                  <a:srgbClr val="1A1A1A"/>
                </a:solidFill>
                <a:latin typeface="Google Sans Flex"/>
              </a:rPr>
              <a:t>Not mock-ups</a:t>
            </a:r>
          </a:p>
          <a:p>
            <a:pPr algn="l">
              <a:spcAft>
                <a:spcPts val="400"/>
              </a:spcAft>
            </a:pPr>
            <a:r>
              <a:rPr sz="850" b="0" i="0">
                <a:solidFill>
                  <a:srgbClr val="5F6368"/>
                </a:solidFill>
                <a:latin typeface="Google Sans Flex"/>
              </a:rPr>
              <a:t>The top row is the deployed prototype. The photos are real sessions recorded on phones: a family recipe in Marathi, and a work handover on a laptop.</a:t>
            </a:r>
          </a:p>
          <a:p>
            <a:pPr algn="l">
              <a:spcAft>
                <a:spcPts val="400"/>
              </a:spcAft>
            </a:pPr>
            <a:r>
              <a:rPr sz="850" b="0" i="1">
                <a:solidFill>
                  <a:srgbClr val="1F3A7A"/>
                </a:solidFill>
                <a:latin typeface="Google Sans Flex"/>
              </a:rPr>
              <a:t>Tested on iPhone and Android.</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sp>
        <p:nvSpPr>
          <p:cNvPr id="104" name="Rounded Rectangle 103"/>
          <p:cNvSpPr/>
          <p:nvPr/>
        </p:nvSpPr>
        <p:spPr>
          <a:xfrm>
            <a:off x="274320" y="1325880"/>
            <a:ext cx="1600200" cy="3017520"/>
          </a:xfrm>
          <a:prstGeom prst="roundRect">
            <a:avLst>
              <a:gd name="adj" fmla="val 4000"/>
            </a:avLst>
          </a:prstGeom>
          <a:solidFill>
            <a:srgbClr val="FFFFFF"/>
          </a:solidFill>
          <a:ln w="9525">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Box 104"/>
          <p:cNvSpPr txBox="1"/>
          <p:nvPr/>
        </p:nvSpPr>
        <p:spPr>
          <a:xfrm>
            <a:off x="347472" y="1362456"/>
            <a:ext cx="1453896" cy="228600"/>
          </a:xfrm>
          <a:prstGeom prst="rect">
            <a:avLst/>
          </a:prstGeom>
          <a:noFill/>
        </p:spPr>
        <p:txBody>
          <a:bodyPr wrap="square" anchor="t" lIns="18288" rIns="18288" tIns="18288" bIns="18288">
            <a:spAutoFit/>
          </a:bodyPr>
          <a:lstStyle/>
          <a:p>
            <a:pPr algn="l"/>
            <a:r>
              <a:rPr sz="900" b="1" i="0">
                <a:solidFill>
                  <a:srgbClr val="1A1A1A"/>
                </a:solidFill>
                <a:latin typeface="Google Sans Flex"/>
              </a:rPr>
              <a:t>Browser / phone</a:t>
            </a:r>
          </a:p>
        </p:txBody>
      </p:sp>
      <p:sp>
        <p:nvSpPr>
          <p:cNvPr id="106" name="Rounded Rectangle 105"/>
          <p:cNvSpPr/>
          <p:nvPr/>
        </p:nvSpPr>
        <p:spPr>
          <a:xfrm>
            <a:off x="365760" y="1645920"/>
            <a:ext cx="1417320" cy="731520"/>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Box 106"/>
          <p:cNvSpPr txBox="1"/>
          <p:nvPr/>
        </p:nvSpPr>
        <p:spPr>
          <a:xfrm>
            <a:off x="420624" y="1673352"/>
            <a:ext cx="1307592" cy="676656"/>
          </a:xfrm>
          <a:prstGeom prst="rect">
            <a:avLst/>
          </a:prstGeom>
          <a:noFill/>
        </p:spPr>
        <p:txBody>
          <a:bodyPr wrap="square" anchor="ctr" lIns="18288" rIns="18288" tIns="18288" bIns="18288">
            <a:spAutoFit/>
          </a:bodyPr>
          <a:lstStyle/>
          <a:p>
            <a:pPr algn="ctr"/>
            <a:r>
              <a:rPr sz="900" b="1" i="0">
                <a:solidFill>
                  <a:srgbClr val="1A1A1A"/>
                </a:solidFill>
                <a:latin typeface="Google Sans Flex"/>
              </a:rPr>
              <a:t>Agamya web app</a:t>
            </a:r>
          </a:p>
          <a:p>
            <a:pPr algn="ctr"/>
            <a:r>
              <a:rPr sz="750" b="0" i="0">
                <a:solidFill>
                  <a:srgbClr val="5F6368"/>
                </a:solidFill>
                <a:latin typeface="Google Sans Flex"/>
              </a:rPr>
              <a:t>plain JS, no build</a:t>
            </a:r>
          </a:p>
        </p:txBody>
      </p:sp>
      <p:sp>
        <p:nvSpPr>
          <p:cNvPr id="108" name="Rounded Rectangle 107"/>
          <p:cNvSpPr/>
          <p:nvPr/>
        </p:nvSpPr>
        <p:spPr>
          <a:xfrm>
            <a:off x="365760" y="2514600"/>
            <a:ext cx="1417320" cy="731520"/>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Box 108"/>
          <p:cNvSpPr txBox="1"/>
          <p:nvPr/>
        </p:nvSpPr>
        <p:spPr>
          <a:xfrm>
            <a:off x="420624" y="2542032"/>
            <a:ext cx="1307592" cy="676656"/>
          </a:xfrm>
          <a:prstGeom prst="rect">
            <a:avLst/>
          </a:prstGeom>
          <a:noFill/>
        </p:spPr>
        <p:txBody>
          <a:bodyPr wrap="square" anchor="ctr" lIns="18288" rIns="18288" tIns="18288" bIns="18288">
            <a:spAutoFit/>
          </a:bodyPr>
          <a:lstStyle/>
          <a:p>
            <a:pPr algn="ctr"/>
            <a:r>
              <a:rPr sz="900" b="1" i="0">
                <a:solidFill>
                  <a:srgbClr val="1A1A1A"/>
                </a:solidFill>
                <a:latin typeface="Google Sans Flex"/>
              </a:rPr>
              <a:t>Screen · camera · mic</a:t>
            </a:r>
          </a:p>
          <a:p>
            <a:pPr algn="ctr"/>
            <a:r>
              <a:rPr sz="750" b="0" i="0">
                <a:solidFill>
                  <a:srgbClr val="5F6368"/>
                </a:solidFill>
                <a:latin typeface="Google Sans Flex"/>
              </a:rPr>
              <a:t>changed frames ≤1/s</a:t>
            </a:r>
          </a:p>
        </p:txBody>
      </p:sp>
      <p:sp>
        <p:nvSpPr>
          <p:cNvPr id="110" name="Rounded Rectangle 109"/>
          <p:cNvSpPr/>
          <p:nvPr/>
        </p:nvSpPr>
        <p:spPr>
          <a:xfrm>
            <a:off x="365760" y="3383280"/>
            <a:ext cx="1417320" cy="731520"/>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Box 110"/>
          <p:cNvSpPr txBox="1"/>
          <p:nvPr/>
        </p:nvSpPr>
        <p:spPr>
          <a:xfrm>
            <a:off x="420624" y="3410712"/>
            <a:ext cx="1307592" cy="676656"/>
          </a:xfrm>
          <a:prstGeom prst="rect">
            <a:avLst/>
          </a:prstGeom>
          <a:noFill/>
        </p:spPr>
        <p:txBody>
          <a:bodyPr wrap="square" anchor="ctr" lIns="18288" rIns="18288" tIns="18288" bIns="18288">
            <a:spAutoFit/>
          </a:bodyPr>
          <a:lstStyle/>
          <a:p>
            <a:pPr algn="ctr"/>
            <a:r>
              <a:rPr sz="900" b="1" i="0">
                <a:solidFill>
                  <a:srgbClr val="1A1A1A"/>
                </a:solidFill>
                <a:latin typeface="Google Sans Flex"/>
              </a:rPr>
              <a:t>Web Audio</a:t>
            </a:r>
          </a:p>
          <a:p>
            <a:pPr algn="ctr"/>
            <a:r>
              <a:rPr sz="750" b="0" i="0">
                <a:solidFill>
                  <a:srgbClr val="5F6368"/>
                </a:solidFill>
                <a:latin typeface="Google Sans Flex"/>
              </a:rPr>
              <a:t>AudioWorklet, 16 kHz</a:t>
            </a:r>
          </a:p>
        </p:txBody>
      </p:sp>
      <p:sp>
        <p:nvSpPr>
          <p:cNvPr id="112" name="Rounded Rectangle 111"/>
          <p:cNvSpPr/>
          <p:nvPr/>
        </p:nvSpPr>
        <p:spPr>
          <a:xfrm>
            <a:off x="2240280" y="1325880"/>
            <a:ext cx="2240280" cy="3017520"/>
          </a:xfrm>
          <a:prstGeom prst="roundRect">
            <a:avLst>
              <a:gd name="adj" fmla="val 4000"/>
            </a:avLst>
          </a:prstGeom>
          <a:solidFill>
            <a:srgbClr val="FFFFFF"/>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Box 112"/>
          <p:cNvSpPr txBox="1"/>
          <p:nvPr/>
        </p:nvSpPr>
        <p:spPr>
          <a:xfrm>
            <a:off x="2313432" y="1362456"/>
            <a:ext cx="2093976" cy="228600"/>
          </a:xfrm>
          <a:prstGeom prst="rect">
            <a:avLst/>
          </a:prstGeom>
          <a:noFill/>
        </p:spPr>
        <p:txBody>
          <a:bodyPr wrap="square" anchor="t" lIns="18288" rIns="18288" tIns="18288" bIns="18288">
            <a:spAutoFit/>
          </a:bodyPr>
          <a:lstStyle/>
          <a:p>
            <a:pPr algn="l"/>
            <a:r>
              <a:rPr sz="900" b="1" i="0">
                <a:solidFill>
                  <a:srgbClr val="1A73E8"/>
                </a:solidFill>
                <a:latin typeface="Google Sans Flex"/>
              </a:rPr>
              <a:t>Cloud Run · Node 24 / Fastify</a:t>
            </a:r>
          </a:p>
        </p:txBody>
      </p:sp>
      <p:sp>
        <p:nvSpPr>
          <p:cNvPr id="114" name="Rounded Rectangle 113"/>
          <p:cNvSpPr/>
          <p:nvPr/>
        </p:nvSpPr>
        <p:spPr>
          <a:xfrm>
            <a:off x="2331720" y="1627632"/>
            <a:ext cx="2057400" cy="566928"/>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TextBox 114"/>
          <p:cNvSpPr txBox="1"/>
          <p:nvPr/>
        </p:nvSpPr>
        <p:spPr>
          <a:xfrm>
            <a:off x="2386584" y="1655064"/>
            <a:ext cx="1947672" cy="512064"/>
          </a:xfrm>
          <a:prstGeom prst="rect">
            <a:avLst/>
          </a:prstGeom>
          <a:noFill/>
        </p:spPr>
        <p:txBody>
          <a:bodyPr wrap="square" anchor="ctr" lIns="18288" rIns="18288" tIns="18288" bIns="18288">
            <a:spAutoFit/>
          </a:bodyPr>
          <a:lstStyle/>
          <a:p>
            <a:pPr algn="ctr"/>
            <a:r>
              <a:rPr sz="900" b="1" i="0">
                <a:solidFill>
                  <a:srgbClr val="1A1A1A"/>
                </a:solidFill>
                <a:latin typeface="Google Sans Flex"/>
              </a:rPr>
              <a:t>REST API</a:t>
            </a:r>
          </a:p>
          <a:p>
            <a:pPr algn="ctr"/>
            <a:r>
              <a:rPr sz="750" b="0" i="0">
                <a:solidFill>
                  <a:srgbClr val="5F6368"/>
                </a:solidFill>
                <a:latin typeface="Google Sans Flex"/>
              </a:rPr>
              <a:t>sessions, maps, spaces</a:t>
            </a:r>
          </a:p>
        </p:txBody>
      </p:sp>
      <p:sp>
        <p:nvSpPr>
          <p:cNvPr id="116" name="Rounded Rectangle 115"/>
          <p:cNvSpPr/>
          <p:nvPr/>
        </p:nvSpPr>
        <p:spPr>
          <a:xfrm>
            <a:off x="2331720" y="2295144"/>
            <a:ext cx="2057400" cy="566928"/>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Box 116"/>
          <p:cNvSpPr txBox="1"/>
          <p:nvPr/>
        </p:nvSpPr>
        <p:spPr>
          <a:xfrm>
            <a:off x="2386584" y="2322575"/>
            <a:ext cx="1947672" cy="512064"/>
          </a:xfrm>
          <a:prstGeom prst="rect">
            <a:avLst/>
          </a:prstGeom>
          <a:noFill/>
        </p:spPr>
        <p:txBody>
          <a:bodyPr wrap="square" anchor="ctr" lIns="18288" rIns="18288" tIns="18288" bIns="18288">
            <a:spAutoFit/>
          </a:bodyPr>
          <a:lstStyle/>
          <a:p>
            <a:pPr algn="ctr"/>
            <a:r>
              <a:rPr sz="900" b="1" i="0">
                <a:solidFill>
                  <a:srgbClr val="1A1A1A"/>
                </a:solidFill>
                <a:latin typeface="Google Sans Flex"/>
              </a:rPr>
              <a:t>Live relay</a:t>
            </a:r>
          </a:p>
          <a:p>
            <a:pPr algn="ctr"/>
            <a:r>
              <a:rPr sz="750" b="0" i="0">
                <a:solidFill>
                  <a:srgbClr val="5F6368"/>
                </a:solidFill>
                <a:latin typeface="Google Sans Flex"/>
              </a:rPr>
              <a:t>WebSocket, 1 h, affinity</a:t>
            </a:r>
          </a:p>
        </p:txBody>
      </p:sp>
      <p:sp>
        <p:nvSpPr>
          <p:cNvPr id="118" name="Rounded Rectangle 117"/>
          <p:cNvSpPr/>
          <p:nvPr/>
        </p:nvSpPr>
        <p:spPr>
          <a:xfrm>
            <a:off x="2331720" y="2962656"/>
            <a:ext cx="2057400" cy="566928"/>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Box 118"/>
          <p:cNvSpPr txBox="1"/>
          <p:nvPr/>
        </p:nvSpPr>
        <p:spPr>
          <a:xfrm>
            <a:off x="2386584" y="2990088"/>
            <a:ext cx="1947672" cy="512064"/>
          </a:xfrm>
          <a:prstGeom prst="rect">
            <a:avLst/>
          </a:prstGeom>
          <a:noFill/>
        </p:spPr>
        <p:txBody>
          <a:bodyPr wrap="square" anchor="ctr" lIns="18288" rIns="18288" tIns="18288" bIns="18288">
            <a:spAutoFit/>
          </a:bodyPr>
          <a:lstStyle/>
          <a:p>
            <a:pPr algn="ctr"/>
            <a:r>
              <a:rPr sz="900" b="1" i="0">
                <a:solidFill>
                  <a:srgbClr val="1A1A1A"/>
                </a:solidFill>
                <a:latin typeface="Google Sans Flex"/>
              </a:rPr>
              <a:t>Job worker</a:t>
            </a:r>
          </a:p>
          <a:p>
            <a:pPr algn="ctr"/>
            <a:r>
              <a:rPr sz="750" b="0" i="0">
                <a:solidFill>
                  <a:srgbClr val="5F6368"/>
                </a:solidFill>
                <a:latin typeface="Google Sans Flex"/>
              </a:rPr>
              <a:t>Work Maps, narration</a:t>
            </a:r>
          </a:p>
        </p:txBody>
      </p:sp>
      <p:sp>
        <p:nvSpPr>
          <p:cNvPr id="120" name="Rounded Rectangle 119"/>
          <p:cNvSpPr/>
          <p:nvPr/>
        </p:nvSpPr>
        <p:spPr>
          <a:xfrm>
            <a:off x="2331720" y="3630168"/>
            <a:ext cx="2057400" cy="566928"/>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Box 120"/>
          <p:cNvSpPr txBox="1"/>
          <p:nvPr/>
        </p:nvSpPr>
        <p:spPr>
          <a:xfrm>
            <a:off x="2386584" y="3657599"/>
            <a:ext cx="1947672" cy="512064"/>
          </a:xfrm>
          <a:prstGeom prst="rect">
            <a:avLst/>
          </a:prstGeom>
          <a:noFill/>
        </p:spPr>
        <p:txBody>
          <a:bodyPr wrap="square" anchor="ctr" lIns="18288" rIns="18288" tIns="18288" bIns="18288">
            <a:spAutoFit/>
          </a:bodyPr>
          <a:lstStyle/>
          <a:p>
            <a:pPr algn="ctr"/>
            <a:r>
              <a:rPr sz="900" b="1" i="0">
                <a:solidFill>
                  <a:srgbClr val="1A1A1A"/>
                </a:solidFill>
                <a:latin typeface="Google Sans Flex"/>
              </a:rPr>
              <a:t>Agent API</a:t>
            </a:r>
          </a:p>
          <a:p>
            <a:pPr algn="ctr"/>
            <a:r>
              <a:rPr sz="750" b="0" i="0">
                <a:solidFill>
                  <a:srgbClr val="5F6368"/>
                </a:solidFill>
                <a:latin typeface="Google Sans Flex"/>
              </a:rPr>
              <a:t>REST + MCP, scoped keys</a:t>
            </a:r>
          </a:p>
        </p:txBody>
      </p:sp>
      <p:sp>
        <p:nvSpPr>
          <p:cNvPr id="122" name="Rounded Rectangle 121"/>
          <p:cNvSpPr/>
          <p:nvPr/>
        </p:nvSpPr>
        <p:spPr>
          <a:xfrm>
            <a:off x="4846320" y="1325880"/>
            <a:ext cx="2103120" cy="3017520"/>
          </a:xfrm>
          <a:prstGeom prst="roundRect">
            <a:avLst>
              <a:gd name="adj" fmla="val 4000"/>
            </a:avLst>
          </a:prstGeom>
          <a:solidFill>
            <a:srgbClr val="FFFFFF"/>
          </a:solidFill>
          <a:ln w="9525">
            <a:solidFill>
              <a:srgbClr val="B31B2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Box 122"/>
          <p:cNvSpPr txBox="1"/>
          <p:nvPr/>
        </p:nvSpPr>
        <p:spPr>
          <a:xfrm>
            <a:off x="4919472" y="1362456"/>
            <a:ext cx="1956815" cy="228600"/>
          </a:xfrm>
          <a:prstGeom prst="rect">
            <a:avLst/>
          </a:prstGeom>
          <a:noFill/>
        </p:spPr>
        <p:txBody>
          <a:bodyPr wrap="square" anchor="t" lIns="18288" rIns="18288" tIns="18288" bIns="18288">
            <a:spAutoFit/>
          </a:bodyPr>
          <a:lstStyle/>
          <a:p>
            <a:pPr algn="l"/>
            <a:r>
              <a:rPr sz="900" b="1" i="0">
                <a:solidFill>
                  <a:srgbClr val="B31B2E"/>
                </a:solidFill>
                <a:latin typeface="Google Sans Flex"/>
              </a:rPr>
              <a:t>Vertex AI</a:t>
            </a:r>
          </a:p>
        </p:txBody>
      </p:sp>
      <p:sp>
        <p:nvSpPr>
          <p:cNvPr id="124" name="Rounded Rectangle 123"/>
          <p:cNvSpPr/>
          <p:nvPr/>
        </p:nvSpPr>
        <p:spPr>
          <a:xfrm>
            <a:off x="4937760" y="1627632"/>
            <a:ext cx="1920240" cy="566928"/>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Box 124"/>
          <p:cNvSpPr txBox="1"/>
          <p:nvPr/>
        </p:nvSpPr>
        <p:spPr>
          <a:xfrm>
            <a:off x="4992624" y="1655064"/>
            <a:ext cx="1810512" cy="512064"/>
          </a:xfrm>
          <a:prstGeom prst="rect">
            <a:avLst/>
          </a:prstGeom>
          <a:noFill/>
        </p:spPr>
        <p:txBody>
          <a:bodyPr wrap="square" anchor="ctr" lIns="18288" rIns="18288" tIns="18288" bIns="18288">
            <a:spAutoFit/>
          </a:bodyPr>
          <a:lstStyle/>
          <a:p>
            <a:pPr algn="ctr"/>
            <a:r>
              <a:rPr sz="900" b="1" i="0">
                <a:solidFill>
                  <a:srgbClr val="1A1A1A"/>
                </a:solidFill>
                <a:latin typeface="Google Sans Flex"/>
              </a:rPr>
              <a:t>Gemini Live</a:t>
            </a:r>
          </a:p>
          <a:p>
            <a:pPr algn="ctr"/>
            <a:r>
              <a:rPr sz="750" b="0" i="0">
                <a:solidFill>
                  <a:srgbClr val="5F6368"/>
                </a:solidFill>
                <a:latin typeface="Google Sans Flex"/>
              </a:rPr>
              <a:t>native audio: Moti</a:t>
            </a:r>
          </a:p>
        </p:txBody>
      </p:sp>
      <p:sp>
        <p:nvSpPr>
          <p:cNvPr id="126" name="Rounded Rectangle 125"/>
          <p:cNvSpPr/>
          <p:nvPr/>
        </p:nvSpPr>
        <p:spPr>
          <a:xfrm>
            <a:off x="4937760" y="2295144"/>
            <a:ext cx="1920240" cy="566928"/>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extBox 126"/>
          <p:cNvSpPr txBox="1"/>
          <p:nvPr/>
        </p:nvSpPr>
        <p:spPr>
          <a:xfrm>
            <a:off x="4992624" y="2322575"/>
            <a:ext cx="1810512" cy="512064"/>
          </a:xfrm>
          <a:prstGeom prst="rect">
            <a:avLst/>
          </a:prstGeom>
          <a:noFill/>
        </p:spPr>
        <p:txBody>
          <a:bodyPr wrap="square" anchor="ctr" lIns="18288" rIns="18288" tIns="18288" bIns="18288">
            <a:spAutoFit/>
          </a:bodyPr>
          <a:lstStyle/>
          <a:p>
            <a:pPr algn="ctr"/>
            <a:r>
              <a:rPr sz="900" b="1" i="0">
                <a:solidFill>
                  <a:srgbClr val="1A1A1A"/>
                </a:solidFill>
                <a:latin typeface="Google Sans Flex"/>
              </a:rPr>
              <a:t>Gemini 2.5 Flash</a:t>
            </a:r>
          </a:p>
          <a:p>
            <a:pPr algn="ctr"/>
            <a:r>
              <a:rPr sz="750" b="0" i="0">
                <a:solidFill>
                  <a:srgbClr val="5F6368"/>
                </a:solidFill>
                <a:latin typeface="Google Sans Flex"/>
              </a:rPr>
              <a:t>JSON-schema output</a:t>
            </a:r>
          </a:p>
        </p:txBody>
      </p:sp>
      <p:sp>
        <p:nvSpPr>
          <p:cNvPr id="128" name="Rounded Rectangle 127"/>
          <p:cNvSpPr/>
          <p:nvPr/>
        </p:nvSpPr>
        <p:spPr>
          <a:xfrm>
            <a:off x="4937760" y="2962656"/>
            <a:ext cx="1920240" cy="566928"/>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Box 128"/>
          <p:cNvSpPr txBox="1"/>
          <p:nvPr/>
        </p:nvSpPr>
        <p:spPr>
          <a:xfrm>
            <a:off x="4992624" y="2990088"/>
            <a:ext cx="1810512" cy="512064"/>
          </a:xfrm>
          <a:prstGeom prst="rect">
            <a:avLst/>
          </a:prstGeom>
          <a:noFill/>
        </p:spPr>
        <p:txBody>
          <a:bodyPr wrap="square" anchor="ctr" lIns="18288" rIns="18288" tIns="18288" bIns="18288">
            <a:spAutoFit/>
          </a:bodyPr>
          <a:lstStyle/>
          <a:p>
            <a:pPr algn="ctr"/>
            <a:r>
              <a:rPr sz="900" b="1" i="0">
                <a:solidFill>
                  <a:srgbClr val="1A1A1A"/>
                </a:solidFill>
                <a:latin typeface="Google Sans Flex"/>
              </a:rPr>
              <a:t>Gemini TTS</a:t>
            </a:r>
          </a:p>
          <a:p>
            <a:pPr algn="ctr"/>
            <a:r>
              <a:rPr sz="750" b="0" i="0">
                <a:solidFill>
                  <a:srgbClr val="5F6368"/>
                </a:solidFill>
                <a:latin typeface="Google Sans Flex"/>
              </a:rPr>
              <a:t>15 languages</a:t>
            </a:r>
          </a:p>
        </p:txBody>
      </p:sp>
      <p:sp>
        <p:nvSpPr>
          <p:cNvPr id="130" name="Rounded Rectangle 129"/>
          <p:cNvSpPr/>
          <p:nvPr/>
        </p:nvSpPr>
        <p:spPr>
          <a:xfrm>
            <a:off x="4937760" y="3630168"/>
            <a:ext cx="1920240" cy="566928"/>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TextBox 130"/>
          <p:cNvSpPr txBox="1"/>
          <p:nvPr/>
        </p:nvSpPr>
        <p:spPr>
          <a:xfrm>
            <a:off x="4992624" y="3657599"/>
            <a:ext cx="1810512" cy="512064"/>
          </a:xfrm>
          <a:prstGeom prst="rect">
            <a:avLst/>
          </a:prstGeom>
          <a:noFill/>
        </p:spPr>
        <p:txBody>
          <a:bodyPr wrap="square" anchor="ctr" lIns="18288" rIns="18288" tIns="18288" bIns="18288">
            <a:spAutoFit/>
          </a:bodyPr>
          <a:lstStyle/>
          <a:p>
            <a:pPr algn="ctr"/>
            <a:r>
              <a:rPr sz="900" b="1" i="0">
                <a:solidFill>
                  <a:srgbClr val="1A1A1A"/>
                </a:solidFill>
                <a:latin typeface="Google Sans Flex"/>
              </a:rPr>
              <a:t>Agent Engine + ADK</a:t>
            </a:r>
          </a:p>
          <a:p>
            <a:pPr algn="ctr"/>
            <a:r>
              <a:rPr sz="750" b="0" i="0">
                <a:solidFill>
                  <a:srgbClr val="5F6368"/>
                </a:solidFill>
                <a:latin typeface="Google Sans Flex"/>
              </a:rPr>
              <a:t>Guardian agent</a:t>
            </a:r>
          </a:p>
        </p:txBody>
      </p:sp>
      <p:sp>
        <p:nvSpPr>
          <p:cNvPr id="132" name="Rounded Rectangle 131"/>
          <p:cNvSpPr/>
          <p:nvPr/>
        </p:nvSpPr>
        <p:spPr>
          <a:xfrm>
            <a:off x="7315200" y="1325880"/>
            <a:ext cx="1554480" cy="3017520"/>
          </a:xfrm>
          <a:prstGeom prst="roundRect">
            <a:avLst>
              <a:gd name="adj" fmla="val 4000"/>
            </a:avLst>
          </a:prstGeom>
          <a:solidFill>
            <a:srgbClr val="FFFFFF"/>
          </a:solidFill>
          <a:ln w="9525">
            <a:solidFill>
              <a:srgbClr val="1E7A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Box 132"/>
          <p:cNvSpPr txBox="1"/>
          <p:nvPr/>
        </p:nvSpPr>
        <p:spPr>
          <a:xfrm>
            <a:off x="7388352" y="1362456"/>
            <a:ext cx="1408176" cy="228600"/>
          </a:xfrm>
          <a:prstGeom prst="rect">
            <a:avLst/>
          </a:prstGeom>
          <a:noFill/>
        </p:spPr>
        <p:txBody>
          <a:bodyPr wrap="square" anchor="t" lIns="18288" rIns="18288" tIns="18288" bIns="18288">
            <a:spAutoFit/>
          </a:bodyPr>
          <a:lstStyle/>
          <a:p>
            <a:pPr algn="l"/>
            <a:r>
              <a:rPr sz="900" b="1" i="0">
                <a:solidFill>
                  <a:srgbClr val="1E7A4C"/>
                </a:solidFill>
                <a:latin typeface="Google Sans Flex"/>
              </a:rPr>
              <a:t>Data</a:t>
            </a:r>
          </a:p>
        </p:txBody>
      </p:sp>
      <p:sp>
        <p:nvSpPr>
          <p:cNvPr id="134" name="Rounded Rectangle 133"/>
          <p:cNvSpPr/>
          <p:nvPr/>
        </p:nvSpPr>
        <p:spPr>
          <a:xfrm>
            <a:off x="7406640" y="1645920"/>
            <a:ext cx="1371600" cy="731520"/>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TextBox 134"/>
          <p:cNvSpPr txBox="1"/>
          <p:nvPr/>
        </p:nvSpPr>
        <p:spPr>
          <a:xfrm>
            <a:off x="7461504" y="1673352"/>
            <a:ext cx="1261872" cy="676656"/>
          </a:xfrm>
          <a:prstGeom prst="rect">
            <a:avLst/>
          </a:prstGeom>
          <a:noFill/>
        </p:spPr>
        <p:txBody>
          <a:bodyPr wrap="square" anchor="ctr" lIns="18288" rIns="18288" tIns="18288" bIns="18288">
            <a:spAutoFit/>
          </a:bodyPr>
          <a:lstStyle/>
          <a:p>
            <a:pPr algn="ctr"/>
            <a:r>
              <a:rPr sz="900" b="1" i="0">
                <a:solidFill>
                  <a:srgbClr val="1A1A1A"/>
                </a:solidFill>
                <a:latin typeface="Google Sans Flex"/>
              </a:rPr>
              <a:t>Cloud SQL</a:t>
            </a:r>
          </a:p>
          <a:p>
            <a:pPr algn="ctr"/>
            <a:r>
              <a:rPr sz="750" b="0" i="0">
                <a:solidFill>
                  <a:srgbClr val="5F6368"/>
                </a:solidFill>
                <a:latin typeface="Google Sans Flex"/>
              </a:rPr>
              <a:t>PostgreSQL + RLS</a:t>
            </a:r>
          </a:p>
        </p:txBody>
      </p:sp>
      <p:sp>
        <p:nvSpPr>
          <p:cNvPr id="136" name="Rounded Rectangle 135"/>
          <p:cNvSpPr/>
          <p:nvPr/>
        </p:nvSpPr>
        <p:spPr>
          <a:xfrm>
            <a:off x="7406640" y="2514600"/>
            <a:ext cx="1371600" cy="731520"/>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TextBox 136"/>
          <p:cNvSpPr txBox="1"/>
          <p:nvPr/>
        </p:nvSpPr>
        <p:spPr>
          <a:xfrm>
            <a:off x="7461504" y="2542032"/>
            <a:ext cx="1261872" cy="676656"/>
          </a:xfrm>
          <a:prstGeom prst="rect">
            <a:avLst/>
          </a:prstGeom>
          <a:noFill/>
        </p:spPr>
        <p:txBody>
          <a:bodyPr wrap="square" anchor="ctr" lIns="18288" rIns="18288" tIns="18288" bIns="18288">
            <a:spAutoFit/>
          </a:bodyPr>
          <a:lstStyle/>
          <a:p>
            <a:pPr algn="ctr"/>
            <a:r>
              <a:rPr sz="900" b="1" i="0">
                <a:solidFill>
                  <a:srgbClr val="1A1A1A"/>
                </a:solidFill>
                <a:latin typeface="Google Sans Flex"/>
              </a:rPr>
              <a:t>Cloud Storage</a:t>
            </a:r>
          </a:p>
          <a:p>
            <a:pPr algn="ctr"/>
            <a:r>
              <a:rPr sz="750" b="0" i="0">
                <a:solidFill>
                  <a:srgbClr val="5F6368"/>
                </a:solidFill>
                <a:latin typeface="Google Sans Flex"/>
              </a:rPr>
              <a:t>frames, audio</a:t>
            </a:r>
          </a:p>
        </p:txBody>
      </p:sp>
      <p:sp>
        <p:nvSpPr>
          <p:cNvPr id="138" name="Rounded Rectangle 137"/>
          <p:cNvSpPr/>
          <p:nvPr/>
        </p:nvSpPr>
        <p:spPr>
          <a:xfrm>
            <a:off x="7406640" y="3383280"/>
            <a:ext cx="1371600" cy="731520"/>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TextBox 138"/>
          <p:cNvSpPr txBox="1"/>
          <p:nvPr/>
        </p:nvSpPr>
        <p:spPr>
          <a:xfrm>
            <a:off x="7461504" y="3410712"/>
            <a:ext cx="1261872" cy="676656"/>
          </a:xfrm>
          <a:prstGeom prst="rect">
            <a:avLst/>
          </a:prstGeom>
          <a:noFill/>
        </p:spPr>
        <p:txBody>
          <a:bodyPr wrap="square" anchor="ctr" lIns="18288" rIns="18288" tIns="18288" bIns="18288">
            <a:spAutoFit/>
          </a:bodyPr>
          <a:lstStyle/>
          <a:p>
            <a:pPr algn="ctr"/>
            <a:r>
              <a:rPr sz="900" b="1" i="0">
                <a:solidFill>
                  <a:srgbClr val="1A1A1A"/>
                </a:solidFill>
                <a:latin typeface="Google Sans Flex"/>
              </a:rPr>
              <a:t>Secret Manager</a:t>
            </a:r>
          </a:p>
          <a:p>
            <a:pPr algn="ctr"/>
            <a:r>
              <a:rPr sz="750" b="0" i="0">
                <a:solidFill>
                  <a:srgbClr val="5F6368"/>
                </a:solidFill>
                <a:latin typeface="Google Sans Flex"/>
              </a:rPr>
              <a:t>no secrets in code</a:t>
            </a:r>
          </a:p>
        </p:txBody>
      </p:sp>
      <p:cxnSp>
        <p:nvCxnSpPr>
          <p:cNvPr id="140" name="Connector 139"/>
          <p:cNvCxnSpPr/>
          <p:nvPr/>
        </p:nvCxnSpPr>
        <p:spPr>
          <a:xfrm flipV="1">
            <a:off x="1783080" y="2578608"/>
            <a:ext cx="548640" cy="27432"/>
          </a:xfrm>
          <a:prstGeom prst="line">
            <a:avLst/>
          </a:prstGeom>
          <a:ln w="1905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1783080" y="1911095"/>
            <a:ext cx="548640" cy="100585"/>
          </a:xfrm>
          <a:prstGeom prst="line">
            <a:avLst/>
          </a:prstGeom>
          <a:ln w="1905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389120" y="1911095"/>
            <a:ext cx="548640" cy="667513"/>
          </a:xfrm>
          <a:prstGeom prst="line">
            <a:avLst/>
          </a:prstGeom>
          <a:ln w="19050">
            <a:solidFill>
              <a:srgbClr val="B31B2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389120" y="2578608"/>
            <a:ext cx="548640" cy="667512"/>
          </a:xfrm>
          <a:prstGeom prst="line">
            <a:avLst/>
          </a:prstGeom>
          <a:ln w="19050">
            <a:solidFill>
              <a:srgbClr val="B31B2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4389120" y="3246120"/>
            <a:ext cx="548640" cy="0"/>
          </a:xfrm>
          <a:prstGeom prst="line">
            <a:avLst/>
          </a:prstGeom>
          <a:ln w="19050">
            <a:solidFill>
              <a:srgbClr val="B31B2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H="1">
            <a:off x="4389120" y="3913632"/>
            <a:ext cx="548640" cy="0"/>
          </a:xfrm>
          <a:prstGeom prst="line">
            <a:avLst/>
          </a:prstGeom>
          <a:ln w="19050">
            <a:solidFill>
              <a:srgbClr val="B31B2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3355848" y="1252728"/>
            <a:ext cx="0" cy="73152"/>
          </a:xfrm>
          <a:prstGeom prst="line">
            <a:avLst/>
          </a:prstGeom>
          <a:ln w="15875">
            <a:solidFill>
              <a:srgbClr val="1E7A4C"/>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3355848" y="1252728"/>
            <a:ext cx="4736592" cy="0"/>
          </a:xfrm>
          <a:prstGeom prst="line">
            <a:avLst/>
          </a:prstGeom>
          <a:ln w="15875">
            <a:solidFill>
              <a:srgbClr val="1E7A4C"/>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8092440" y="1252728"/>
            <a:ext cx="0" cy="91440"/>
          </a:xfrm>
          <a:prstGeom prst="line">
            <a:avLst/>
          </a:prstGeom>
          <a:ln w="15875">
            <a:solidFill>
              <a:srgbClr val="1E7A4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9" name="TextBox 148"/>
          <p:cNvSpPr txBox="1"/>
          <p:nvPr/>
        </p:nvSpPr>
        <p:spPr>
          <a:xfrm>
            <a:off x="274320" y="4434840"/>
            <a:ext cx="8595360" cy="365760"/>
          </a:xfrm>
          <a:prstGeom prst="rect">
            <a:avLst/>
          </a:prstGeom>
          <a:noFill/>
        </p:spPr>
        <p:txBody>
          <a:bodyPr wrap="square" anchor="t" lIns="18288" rIns="18288" tIns="18288" bIns="18288">
            <a:spAutoFit/>
          </a:bodyPr>
          <a:lstStyle/>
          <a:p>
            <a:pPr algn="l"/>
            <a:r>
              <a:rPr sz="850" b="1" i="0">
                <a:solidFill>
                  <a:srgbClr val="1A1A1A"/>
                </a:solidFill>
                <a:latin typeface="Google Sans Flex"/>
              </a:rPr>
              <a:t>Flow: </a:t>
            </a:r>
            <a:r>
              <a:rPr sz="850" b="0" i="0">
                <a:solidFill>
                  <a:srgbClr val="5F6368"/>
                </a:solidFill>
                <a:latin typeface="Google Sans Flex"/>
              </a:rPr>
              <a:t>audio and changed frames go through the relay to Gemini Live, and Moti's voice comes back. The worker builds Work Maps with Gemini 2.5 Flash; every quote is checked in code. External AI agents, and the ADK Guardian on Agent Engine, call the Agent API before acting. Row-Level Security isolates each space in the database.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
        <p:nvSpPr>
          <p:cNvPr id="112" name="TextBox 111"/>
          <p:cNvSpPr txBox="1"/>
          <p:nvPr/>
        </p:nvSpPr>
        <p:spPr>
          <a:xfrm>
            <a:off x="274320" y="1188720"/>
            <a:ext cx="5577840" cy="274320"/>
          </a:xfrm>
          <a:prstGeom prst="rect">
            <a:avLst/>
          </a:prstGeom>
          <a:noFill/>
        </p:spPr>
        <p:txBody>
          <a:bodyPr wrap="square" anchor="t" lIns="18288" rIns="18288" tIns="18288" bIns="18288">
            <a:spAutoFit/>
          </a:bodyPr>
          <a:lstStyle/>
          <a:p>
            <a:pPr algn="l"/>
            <a:r>
              <a:rPr sz="1100" b="1" i="0">
                <a:solidFill>
                  <a:srgbClr val="1A73E8"/>
                </a:solidFill>
                <a:latin typeface="Google Sans Flex"/>
              </a:rPr>
              <a:t>Google Cloud, and why</a:t>
            </a:r>
          </a:p>
        </p:txBody>
      </p:sp>
      <p:sp>
        <p:nvSpPr>
          <p:cNvPr id="113" name="Rounded Rectangle 112"/>
          <p:cNvSpPr/>
          <p:nvPr/>
        </p:nvSpPr>
        <p:spPr>
          <a:xfrm>
            <a:off x="274320" y="1481328"/>
            <a:ext cx="5577840" cy="429768"/>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Box 113"/>
          <p:cNvSpPr txBox="1"/>
          <p:nvPr/>
        </p:nvSpPr>
        <p:spPr>
          <a:xfrm>
            <a:off x="365760" y="1499616"/>
            <a:ext cx="2194560" cy="393192"/>
          </a:xfrm>
          <a:prstGeom prst="rect">
            <a:avLst/>
          </a:prstGeom>
          <a:noFill/>
        </p:spPr>
        <p:txBody>
          <a:bodyPr wrap="square" anchor="ctr" lIns="18288" rIns="18288" tIns="18288" bIns="18288">
            <a:spAutoFit/>
          </a:bodyPr>
          <a:lstStyle/>
          <a:p>
            <a:pPr algn="l"/>
            <a:r>
              <a:rPr sz="900" b="1" i="0">
                <a:solidFill>
                  <a:srgbClr val="1A1A1A"/>
                </a:solidFill>
                <a:latin typeface="Google Sans Flex"/>
              </a:rPr>
              <a:t>Gemini Live API</a:t>
            </a:r>
          </a:p>
          <a:p>
            <a:pPr algn="l"/>
            <a:r>
              <a:rPr sz="700" b="0" i="0">
                <a:solidFill>
                  <a:srgbClr val="5F6368"/>
                </a:solidFill>
                <a:latin typeface="Google Sans Flex"/>
              </a:rPr>
              <a:t>gemini-live-2.5-flash-native-audio</a:t>
            </a:r>
          </a:p>
        </p:txBody>
      </p:sp>
      <p:sp>
        <p:nvSpPr>
          <p:cNvPr id="115" name="TextBox 114"/>
          <p:cNvSpPr txBox="1"/>
          <p:nvPr/>
        </p:nvSpPr>
        <p:spPr>
          <a:xfrm>
            <a:off x="2606040" y="1499616"/>
            <a:ext cx="3200400" cy="393192"/>
          </a:xfrm>
          <a:prstGeom prst="rect">
            <a:avLst/>
          </a:prstGeom>
          <a:noFill/>
        </p:spPr>
        <p:txBody>
          <a:bodyPr wrap="square" anchor="ctr" lIns="18288" rIns="18288" tIns="18288" bIns="18288">
            <a:spAutoFit/>
          </a:bodyPr>
          <a:lstStyle/>
          <a:p>
            <a:pPr algn="l"/>
            <a:r>
              <a:rPr sz="850" b="0" i="0">
                <a:solidFill>
                  <a:srgbClr val="1A1A1A"/>
                </a:solidFill>
                <a:latin typeface="Google Sans Flex"/>
              </a:rPr>
              <a:t>Moti: real voice conversation with vision, in Indian languages</a:t>
            </a:r>
          </a:p>
        </p:txBody>
      </p:sp>
      <p:sp>
        <p:nvSpPr>
          <p:cNvPr id="116" name="Rounded Rectangle 115"/>
          <p:cNvSpPr/>
          <p:nvPr/>
        </p:nvSpPr>
        <p:spPr>
          <a:xfrm>
            <a:off x="274320" y="1947672"/>
            <a:ext cx="5577840" cy="429768"/>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Box 116"/>
          <p:cNvSpPr txBox="1"/>
          <p:nvPr/>
        </p:nvSpPr>
        <p:spPr>
          <a:xfrm>
            <a:off x="365760" y="1965960"/>
            <a:ext cx="2194560" cy="393192"/>
          </a:xfrm>
          <a:prstGeom prst="rect">
            <a:avLst/>
          </a:prstGeom>
          <a:noFill/>
        </p:spPr>
        <p:txBody>
          <a:bodyPr wrap="square" anchor="ctr" lIns="18288" rIns="18288" tIns="18288" bIns="18288">
            <a:spAutoFit/>
          </a:bodyPr>
          <a:lstStyle/>
          <a:p>
            <a:pPr algn="l"/>
            <a:r>
              <a:rPr sz="900" b="1" i="0">
                <a:solidFill>
                  <a:srgbClr val="1A1A1A"/>
                </a:solidFill>
                <a:latin typeface="Google Sans Flex"/>
              </a:rPr>
              <a:t>Gemini 2.5 Flash</a:t>
            </a:r>
          </a:p>
          <a:p>
            <a:pPr algn="l"/>
            <a:r>
              <a:rPr sz="700" b="0" i="0">
                <a:solidFill>
                  <a:srgbClr val="5F6368"/>
                </a:solidFill>
                <a:latin typeface="Google Sans Flex"/>
              </a:rPr>
              <a:t>structured JSON output</a:t>
            </a:r>
          </a:p>
        </p:txBody>
      </p:sp>
      <p:sp>
        <p:nvSpPr>
          <p:cNvPr id="118" name="TextBox 117"/>
          <p:cNvSpPr txBox="1"/>
          <p:nvPr/>
        </p:nvSpPr>
        <p:spPr>
          <a:xfrm>
            <a:off x="2606040" y="1965960"/>
            <a:ext cx="3200400" cy="393192"/>
          </a:xfrm>
          <a:prstGeom prst="rect">
            <a:avLst/>
          </a:prstGeom>
          <a:noFill/>
        </p:spPr>
        <p:txBody>
          <a:bodyPr wrap="square" anchor="ctr" lIns="18288" rIns="18288" tIns="18288" bIns="18288">
            <a:spAutoFit/>
          </a:bodyPr>
          <a:lstStyle/>
          <a:p>
            <a:pPr algn="l"/>
            <a:r>
              <a:rPr sz="850" b="0" i="0">
                <a:solidFill>
                  <a:srgbClr val="1A1A1A"/>
                </a:solidFill>
                <a:latin typeface="Google Sans Flex"/>
              </a:rPr>
              <a:t>Work Maps, tutor stops, agent checks, Ask: fast and cheap, checked in code</a:t>
            </a:r>
          </a:p>
        </p:txBody>
      </p:sp>
      <p:sp>
        <p:nvSpPr>
          <p:cNvPr id="119" name="Rounded Rectangle 118"/>
          <p:cNvSpPr/>
          <p:nvPr/>
        </p:nvSpPr>
        <p:spPr>
          <a:xfrm>
            <a:off x="274320" y="2414015"/>
            <a:ext cx="5577840" cy="429768"/>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Box 119"/>
          <p:cNvSpPr txBox="1"/>
          <p:nvPr/>
        </p:nvSpPr>
        <p:spPr>
          <a:xfrm>
            <a:off x="365760" y="2432303"/>
            <a:ext cx="2194560" cy="393192"/>
          </a:xfrm>
          <a:prstGeom prst="rect">
            <a:avLst/>
          </a:prstGeom>
          <a:noFill/>
        </p:spPr>
        <p:txBody>
          <a:bodyPr wrap="square" anchor="ctr" lIns="18288" rIns="18288" tIns="18288" bIns="18288">
            <a:spAutoFit/>
          </a:bodyPr>
          <a:lstStyle/>
          <a:p>
            <a:pPr algn="l"/>
            <a:r>
              <a:rPr sz="900" b="1" i="0">
                <a:solidFill>
                  <a:srgbClr val="1A1A1A"/>
                </a:solidFill>
                <a:latin typeface="Google Sans Flex"/>
              </a:rPr>
              <a:t>Gemini TTS</a:t>
            </a:r>
          </a:p>
          <a:p>
            <a:pPr algn="l"/>
            <a:r>
              <a:rPr sz="700" b="0" i="0">
                <a:solidFill>
                  <a:srgbClr val="5F6368"/>
                </a:solidFill>
                <a:latin typeface="Google Sans Flex"/>
              </a:rPr>
              <a:t>gemini-2.5-flash-tts</a:t>
            </a:r>
          </a:p>
        </p:txBody>
      </p:sp>
      <p:sp>
        <p:nvSpPr>
          <p:cNvPr id="121" name="TextBox 120"/>
          <p:cNvSpPr txBox="1"/>
          <p:nvPr/>
        </p:nvSpPr>
        <p:spPr>
          <a:xfrm>
            <a:off x="2606040" y="2432303"/>
            <a:ext cx="3200400" cy="393192"/>
          </a:xfrm>
          <a:prstGeom prst="rect">
            <a:avLst/>
          </a:prstGeom>
          <a:noFill/>
        </p:spPr>
        <p:txBody>
          <a:bodyPr wrap="square" anchor="ctr" lIns="18288" rIns="18288" tIns="18288" bIns="18288">
            <a:spAutoFit/>
          </a:bodyPr>
          <a:lstStyle/>
          <a:p>
            <a:pPr algn="l"/>
            <a:r>
              <a:rPr sz="850" b="0" i="0">
                <a:solidFill>
                  <a:srgbClr val="1A1A1A"/>
                </a:solidFill>
                <a:latin typeface="Google Sans Flex"/>
              </a:rPr>
              <a:t>narration in 15 languages</a:t>
            </a:r>
          </a:p>
        </p:txBody>
      </p:sp>
      <p:sp>
        <p:nvSpPr>
          <p:cNvPr id="122" name="Rounded Rectangle 121"/>
          <p:cNvSpPr/>
          <p:nvPr/>
        </p:nvSpPr>
        <p:spPr>
          <a:xfrm>
            <a:off x="274320" y="2880359"/>
            <a:ext cx="5577840" cy="429768"/>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Box 122"/>
          <p:cNvSpPr txBox="1"/>
          <p:nvPr/>
        </p:nvSpPr>
        <p:spPr>
          <a:xfrm>
            <a:off x="365760" y="2898647"/>
            <a:ext cx="2194560" cy="393192"/>
          </a:xfrm>
          <a:prstGeom prst="rect">
            <a:avLst/>
          </a:prstGeom>
          <a:noFill/>
        </p:spPr>
        <p:txBody>
          <a:bodyPr wrap="square" anchor="ctr" lIns="18288" rIns="18288" tIns="18288" bIns="18288">
            <a:spAutoFit/>
          </a:bodyPr>
          <a:lstStyle/>
          <a:p>
            <a:pPr algn="l"/>
            <a:r>
              <a:rPr sz="900" b="1" i="0">
                <a:solidFill>
                  <a:srgbClr val="1A1A1A"/>
                </a:solidFill>
                <a:latin typeface="Google Sans Flex"/>
              </a:rPr>
              <a:t>Vertex AI Agent Engine + ADK</a:t>
            </a:r>
          </a:p>
          <a:p>
            <a:pPr algn="l"/>
            <a:r>
              <a:rPr sz="700" b="0" i="0">
                <a:solidFill>
                  <a:srgbClr val="5F6368"/>
                </a:solidFill>
                <a:latin typeface="Google Sans Flex"/>
              </a:rPr>
              <a:t>Python Guardian agent</a:t>
            </a:r>
          </a:p>
        </p:txBody>
      </p:sp>
      <p:sp>
        <p:nvSpPr>
          <p:cNvPr id="124" name="TextBox 123"/>
          <p:cNvSpPr txBox="1"/>
          <p:nvPr/>
        </p:nvSpPr>
        <p:spPr>
          <a:xfrm>
            <a:off x="2606040" y="2898647"/>
            <a:ext cx="3200400" cy="393192"/>
          </a:xfrm>
          <a:prstGeom prst="rect">
            <a:avLst/>
          </a:prstGeom>
          <a:noFill/>
        </p:spPr>
        <p:txBody>
          <a:bodyPr wrap="square" anchor="ctr" lIns="18288" rIns="18288" tIns="18288" bIns="18288">
            <a:spAutoFit/>
          </a:bodyPr>
          <a:lstStyle/>
          <a:p>
            <a:pPr algn="l"/>
            <a:r>
              <a:rPr sz="850" b="0" i="0">
                <a:solidFill>
                  <a:srgbClr val="1A1A1A"/>
                </a:solidFill>
                <a:latin typeface="Google Sans Flex"/>
              </a:rPr>
              <a:t>managed agent hosting with tracing</a:t>
            </a:r>
          </a:p>
        </p:txBody>
      </p:sp>
      <p:sp>
        <p:nvSpPr>
          <p:cNvPr id="125" name="Rounded Rectangle 124"/>
          <p:cNvSpPr/>
          <p:nvPr/>
        </p:nvSpPr>
        <p:spPr>
          <a:xfrm>
            <a:off x="274320" y="3346703"/>
            <a:ext cx="5577840" cy="429768"/>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Box 125"/>
          <p:cNvSpPr txBox="1"/>
          <p:nvPr/>
        </p:nvSpPr>
        <p:spPr>
          <a:xfrm>
            <a:off x="365760" y="3364991"/>
            <a:ext cx="2194560" cy="393192"/>
          </a:xfrm>
          <a:prstGeom prst="rect">
            <a:avLst/>
          </a:prstGeom>
          <a:noFill/>
        </p:spPr>
        <p:txBody>
          <a:bodyPr wrap="square" anchor="ctr" lIns="18288" rIns="18288" tIns="18288" bIns="18288">
            <a:spAutoFit/>
          </a:bodyPr>
          <a:lstStyle/>
          <a:p>
            <a:pPr algn="l"/>
            <a:r>
              <a:rPr sz="900" b="1" i="0">
                <a:solidFill>
                  <a:srgbClr val="1A1A1A"/>
                </a:solidFill>
                <a:latin typeface="Google Sans Flex"/>
              </a:rPr>
              <a:t>Cloud Run</a:t>
            </a:r>
          </a:p>
          <a:p>
            <a:pPr algn="l"/>
            <a:r>
              <a:rPr sz="700" b="0" i="0">
                <a:solidFill>
                  <a:srgbClr val="5F6368"/>
                </a:solidFill>
                <a:latin typeface="Google Sans Flex"/>
              </a:rPr>
              <a:t>WebSockets, 1 h timeout, affinity</a:t>
            </a:r>
          </a:p>
        </p:txBody>
      </p:sp>
      <p:sp>
        <p:nvSpPr>
          <p:cNvPr id="127" name="TextBox 126"/>
          <p:cNvSpPr txBox="1"/>
          <p:nvPr/>
        </p:nvSpPr>
        <p:spPr>
          <a:xfrm>
            <a:off x="2606040" y="3364991"/>
            <a:ext cx="3200400" cy="393192"/>
          </a:xfrm>
          <a:prstGeom prst="rect">
            <a:avLst/>
          </a:prstGeom>
          <a:noFill/>
        </p:spPr>
        <p:txBody>
          <a:bodyPr wrap="square" anchor="ctr" lIns="18288" rIns="18288" tIns="18288" bIns="18288">
            <a:spAutoFit/>
          </a:bodyPr>
          <a:lstStyle/>
          <a:p>
            <a:pPr algn="l"/>
            <a:r>
              <a:rPr sz="850" b="0" i="0">
                <a:solidFill>
                  <a:srgbClr val="1A1A1A"/>
                </a:solidFill>
                <a:latin typeface="Google Sans Flex"/>
              </a:rPr>
              <a:t>the whole app; scales to zero</a:t>
            </a:r>
          </a:p>
        </p:txBody>
      </p:sp>
      <p:sp>
        <p:nvSpPr>
          <p:cNvPr id="128" name="Rounded Rectangle 127"/>
          <p:cNvSpPr/>
          <p:nvPr/>
        </p:nvSpPr>
        <p:spPr>
          <a:xfrm>
            <a:off x="274320" y="3813047"/>
            <a:ext cx="5577840" cy="429768"/>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Box 128"/>
          <p:cNvSpPr txBox="1"/>
          <p:nvPr/>
        </p:nvSpPr>
        <p:spPr>
          <a:xfrm>
            <a:off x="365760" y="3831335"/>
            <a:ext cx="2194560" cy="393192"/>
          </a:xfrm>
          <a:prstGeom prst="rect">
            <a:avLst/>
          </a:prstGeom>
          <a:noFill/>
        </p:spPr>
        <p:txBody>
          <a:bodyPr wrap="square" anchor="ctr" lIns="18288" rIns="18288" tIns="18288" bIns="18288">
            <a:spAutoFit/>
          </a:bodyPr>
          <a:lstStyle/>
          <a:p>
            <a:pPr algn="l"/>
            <a:r>
              <a:rPr sz="900" b="1" i="0">
                <a:solidFill>
                  <a:srgbClr val="1A1A1A"/>
                </a:solidFill>
                <a:latin typeface="Google Sans Flex"/>
              </a:rPr>
              <a:t>Cloud SQL · Storage · Secret Manager</a:t>
            </a:r>
          </a:p>
          <a:p>
            <a:pPr algn="l"/>
            <a:r>
              <a:rPr sz="700" b="0" i="0">
                <a:solidFill>
                  <a:srgbClr val="5F6368"/>
                </a:solidFill>
                <a:latin typeface="Google Sans Flex"/>
              </a:rPr>
              <a:t>PostgreSQL 16 + RLS</a:t>
            </a:r>
          </a:p>
        </p:txBody>
      </p:sp>
      <p:sp>
        <p:nvSpPr>
          <p:cNvPr id="130" name="TextBox 129"/>
          <p:cNvSpPr txBox="1"/>
          <p:nvPr/>
        </p:nvSpPr>
        <p:spPr>
          <a:xfrm>
            <a:off x="2606040" y="3831335"/>
            <a:ext cx="3200400" cy="393192"/>
          </a:xfrm>
          <a:prstGeom prst="rect">
            <a:avLst/>
          </a:prstGeom>
          <a:noFill/>
        </p:spPr>
        <p:txBody>
          <a:bodyPr wrap="square" anchor="ctr" lIns="18288" rIns="18288" tIns="18288" bIns="18288">
            <a:spAutoFit/>
          </a:bodyPr>
          <a:lstStyle/>
          <a:p>
            <a:pPr algn="l"/>
            <a:r>
              <a:rPr sz="850" b="0" i="0">
                <a:solidFill>
                  <a:srgbClr val="1A1A1A"/>
                </a:solidFill>
                <a:latin typeface="Google Sans Flex"/>
              </a:rPr>
              <a:t>isolation enforced by the database; private media; no secrets in code</a:t>
            </a:r>
          </a:p>
        </p:txBody>
      </p:sp>
      <p:sp>
        <p:nvSpPr>
          <p:cNvPr id="131" name="Rounded Rectangle 130"/>
          <p:cNvSpPr/>
          <p:nvPr/>
        </p:nvSpPr>
        <p:spPr>
          <a:xfrm>
            <a:off x="274320" y="4279391"/>
            <a:ext cx="5577840" cy="429768"/>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Box 131"/>
          <p:cNvSpPr txBox="1"/>
          <p:nvPr/>
        </p:nvSpPr>
        <p:spPr>
          <a:xfrm>
            <a:off x="365760" y="4297679"/>
            <a:ext cx="2194560" cy="393192"/>
          </a:xfrm>
          <a:prstGeom prst="rect">
            <a:avLst/>
          </a:prstGeom>
          <a:noFill/>
        </p:spPr>
        <p:txBody>
          <a:bodyPr wrap="square" anchor="ctr" lIns="18288" rIns="18288" tIns="18288" bIns="18288">
            <a:spAutoFit/>
          </a:bodyPr>
          <a:lstStyle/>
          <a:p>
            <a:pPr algn="l"/>
            <a:r>
              <a:rPr sz="900" b="1" i="0">
                <a:solidFill>
                  <a:srgbClr val="1A1A1A"/>
                </a:solidFill>
                <a:latin typeface="Google Sans Flex"/>
              </a:rPr>
              <a:t>Cloud Build · Artifact Registry</a:t>
            </a:r>
          </a:p>
          <a:p>
            <a:pPr algn="l"/>
            <a:r>
              <a:rPr sz="700" b="0" i="0">
                <a:solidFill>
                  <a:srgbClr val="5F6368"/>
                </a:solidFill>
                <a:latin typeface="Google Sans Flex"/>
              </a:rPr>
              <a:t>Cloud Logging</a:t>
            </a:r>
          </a:p>
        </p:txBody>
      </p:sp>
      <p:sp>
        <p:nvSpPr>
          <p:cNvPr id="133" name="TextBox 132"/>
          <p:cNvSpPr txBox="1"/>
          <p:nvPr/>
        </p:nvSpPr>
        <p:spPr>
          <a:xfrm>
            <a:off x="2606040" y="4297679"/>
            <a:ext cx="3200400" cy="393192"/>
          </a:xfrm>
          <a:prstGeom prst="rect">
            <a:avLst/>
          </a:prstGeom>
          <a:noFill/>
        </p:spPr>
        <p:txBody>
          <a:bodyPr wrap="square" anchor="ctr" lIns="18288" rIns="18288" tIns="18288" bIns="18288">
            <a:spAutoFit/>
          </a:bodyPr>
          <a:lstStyle/>
          <a:p>
            <a:pPr algn="l"/>
            <a:r>
              <a:rPr sz="850" b="0" i="0">
                <a:solidFill>
                  <a:srgbClr val="1A1A1A"/>
                </a:solidFill>
                <a:latin typeface="Google Sans Flex"/>
              </a:rPr>
              <a:t>one-command deploy: npm run deploy</a:t>
            </a:r>
          </a:p>
        </p:txBody>
      </p:sp>
      <p:sp>
        <p:nvSpPr>
          <p:cNvPr id="134" name="TextBox 133"/>
          <p:cNvSpPr txBox="1"/>
          <p:nvPr/>
        </p:nvSpPr>
        <p:spPr>
          <a:xfrm>
            <a:off x="6080760" y="1188720"/>
            <a:ext cx="2788920" cy="274320"/>
          </a:xfrm>
          <a:prstGeom prst="rect">
            <a:avLst/>
          </a:prstGeom>
          <a:noFill/>
        </p:spPr>
        <p:txBody>
          <a:bodyPr wrap="square" anchor="t" lIns="18288" rIns="18288" tIns="18288" bIns="18288">
            <a:spAutoFit/>
          </a:bodyPr>
          <a:lstStyle/>
          <a:p>
            <a:pPr algn="l"/>
            <a:r>
              <a:rPr sz="1100" b="1" i="0">
                <a:solidFill>
                  <a:srgbClr val="1A1A1A"/>
                </a:solidFill>
                <a:latin typeface="Google Sans Flex"/>
              </a:rPr>
              <a:t>Also used</a:t>
            </a:r>
          </a:p>
        </p:txBody>
      </p:sp>
      <p:sp>
        <p:nvSpPr>
          <p:cNvPr id="135" name="Rounded Rectangle 134"/>
          <p:cNvSpPr/>
          <p:nvPr/>
        </p:nvSpPr>
        <p:spPr>
          <a:xfrm>
            <a:off x="6080760" y="1481328"/>
            <a:ext cx="2788920" cy="429768"/>
          </a:xfrm>
          <a:prstGeom prst="roundRect">
            <a:avLst>
              <a:gd name="adj" fmla="val 1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Box 135"/>
          <p:cNvSpPr txBox="1"/>
          <p:nvPr/>
        </p:nvSpPr>
        <p:spPr>
          <a:xfrm>
            <a:off x="6172200" y="1499616"/>
            <a:ext cx="2651760" cy="393192"/>
          </a:xfrm>
          <a:prstGeom prst="rect">
            <a:avLst/>
          </a:prstGeom>
          <a:noFill/>
        </p:spPr>
        <p:txBody>
          <a:bodyPr wrap="square" anchor="ctr" lIns="18288" rIns="18288" tIns="18288" bIns="18288">
            <a:spAutoFit/>
          </a:bodyPr>
          <a:lstStyle/>
          <a:p>
            <a:pPr algn="l"/>
            <a:r>
              <a:rPr sz="900" b="1" i="0">
                <a:solidFill>
                  <a:srgbClr val="1A1A1A"/>
                </a:solidFill>
                <a:latin typeface="Google Sans Flex"/>
              </a:rPr>
              <a:t>Node.js 24 · Fastify</a:t>
            </a:r>
          </a:p>
          <a:p>
            <a:pPr algn="l"/>
            <a:r>
              <a:rPr sz="750" b="0" i="0">
                <a:solidFill>
                  <a:srgbClr val="5F6368"/>
                </a:solidFill>
                <a:latin typeface="Google Sans Flex"/>
              </a:rPr>
              <a:t>server and WebSocket relay</a:t>
            </a:r>
          </a:p>
        </p:txBody>
      </p:sp>
      <p:sp>
        <p:nvSpPr>
          <p:cNvPr id="137" name="Rounded Rectangle 136"/>
          <p:cNvSpPr/>
          <p:nvPr/>
        </p:nvSpPr>
        <p:spPr>
          <a:xfrm>
            <a:off x="6080760" y="1947672"/>
            <a:ext cx="2788920" cy="429768"/>
          </a:xfrm>
          <a:prstGeom prst="roundRect">
            <a:avLst>
              <a:gd name="adj" fmla="val 1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TextBox 137"/>
          <p:cNvSpPr txBox="1"/>
          <p:nvPr/>
        </p:nvSpPr>
        <p:spPr>
          <a:xfrm>
            <a:off x="6172200" y="1965960"/>
            <a:ext cx="2651760" cy="393192"/>
          </a:xfrm>
          <a:prstGeom prst="rect">
            <a:avLst/>
          </a:prstGeom>
          <a:noFill/>
        </p:spPr>
        <p:txBody>
          <a:bodyPr wrap="square" anchor="ctr" lIns="18288" rIns="18288" tIns="18288" bIns="18288">
            <a:spAutoFit/>
          </a:bodyPr>
          <a:lstStyle/>
          <a:p>
            <a:pPr algn="l"/>
            <a:r>
              <a:rPr sz="900" b="1" i="0">
                <a:solidFill>
                  <a:srgbClr val="1A1A1A"/>
                </a:solidFill>
                <a:latin typeface="Google Sans Flex"/>
              </a:rPr>
              <a:t>Plain JavaScript web app</a:t>
            </a:r>
          </a:p>
          <a:p>
            <a:pPr algn="l"/>
            <a:r>
              <a:rPr sz="750" b="0" i="0">
                <a:solidFill>
                  <a:srgbClr val="5F6368"/>
                </a:solidFill>
                <a:latin typeface="Google Sans Flex"/>
              </a:rPr>
              <a:t>no build step, works on phones</a:t>
            </a:r>
          </a:p>
        </p:txBody>
      </p:sp>
      <p:sp>
        <p:nvSpPr>
          <p:cNvPr id="139" name="Rounded Rectangle 138"/>
          <p:cNvSpPr/>
          <p:nvPr/>
        </p:nvSpPr>
        <p:spPr>
          <a:xfrm>
            <a:off x="6080760" y="2414015"/>
            <a:ext cx="2788920" cy="429768"/>
          </a:xfrm>
          <a:prstGeom prst="roundRect">
            <a:avLst>
              <a:gd name="adj" fmla="val 1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TextBox 139"/>
          <p:cNvSpPr txBox="1"/>
          <p:nvPr/>
        </p:nvSpPr>
        <p:spPr>
          <a:xfrm>
            <a:off x="6172200" y="2432303"/>
            <a:ext cx="2651760" cy="393192"/>
          </a:xfrm>
          <a:prstGeom prst="rect">
            <a:avLst/>
          </a:prstGeom>
          <a:noFill/>
        </p:spPr>
        <p:txBody>
          <a:bodyPr wrap="square" anchor="ctr" lIns="18288" rIns="18288" tIns="18288" bIns="18288">
            <a:spAutoFit/>
          </a:bodyPr>
          <a:lstStyle/>
          <a:p>
            <a:pPr algn="l"/>
            <a:r>
              <a:rPr sz="900" b="1" i="0">
                <a:solidFill>
                  <a:srgbClr val="1A1A1A"/>
                </a:solidFill>
                <a:latin typeface="Google Sans Flex"/>
              </a:rPr>
              <a:t>Web Audio · media capture</a:t>
            </a:r>
          </a:p>
          <a:p>
            <a:pPr algn="l"/>
            <a:r>
              <a:rPr sz="750" b="0" i="0">
                <a:solidFill>
                  <a:srgbClr val="5F6368"/>
                </a:solidFill>
                <a:latin typeface="Google Sans Flex"/>
              </a:rPr>
              <a:t>AudioWorklet, screen and camera</a:t>
            </a:r>
          </a:p>
        </p:txBody>
      </p:sp>
      <p:sp>
        <p:nvSpPr>
          <p:cNvPr id="141" name="Rounded Rectangle 140"/>
          <p:cNvSpPr/>
          <p:nvPr/>
        </p:nvSpPr>
        <p:spPr>
          <a:xfrm>
            <a:off x="6080760" y="2880359"/>
            <a:ext cx="2788920" cy="429768"/>
          </a:xfrm>
          <a:prstGeom prst="roundRect">
            <a:avLst>
              <a:gd name="adj" fmla="val 1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TextBox 141"/>
          <p:cNvSpPr txBox="1"/>
          <p:nvPr/>
        </p:nvSpPr>
        <p:spPr>
          <a:xfrm>
            <a:off x="6172200" y="2898647"/>
            <a:ext cx="2651760" cy="393192"/>
          </a:xfrm>
          <a:prstGeom prst="rect">
            <a:avLst/>
          </a:prstGeom>
          <a:noFill/>
        </p:spPr>
        <p:txBody>
          <a:bodyPr wrap="square" anchor="ctr" lIns="18288" rIns="18288" tIns="18288" bIns="18288">
            <a:spAutoFit/>
          </a:bodyPr>
          <a:lstStyle/>
          <a:p>
            <a:pPr algn="l"/>
            <a:r>
              <a:rPr sz="900" b="1" i="0">
                <a:solidFill>
                  <a:srgbClr val="1A1A1A"/>
                </a:solidFill>
                <a:latin typeface="Google Sans Flex"/>
              </a:rPr>
              <a:t>Model Context Protocol</a:t>
            </a:r>
          </a:p>
          <a:p>
            <a:pPr algn="l"/>
            <a:r>
              <a:rPr sz="750" b="0" i="0">
                <a:solidFill>
                  <a:srgbClr val="5F6368"/>
                </a:solidFill>
                <a:latin typeface="Google Sans Flex"/>
              </a:rPr>
              <a:t>agents call the guardrails as a tool</a:t>
            </a:r>
          </a:p>
        </p:txBody>
      </p:sp>
      <p:sp>
        <p:nvSpPr>
          <p:cNvPr id="143" name="Rounded Rectangle 142"/>
          <p:cNvSpPr/>
          <p:nvPr/>
        </p:nvSpPr>
        <p:spPr>
          <a:xfrm>
            <a:off x="6080760" y="3346703"/>
            <a:ext cx="2788920" cy="429768"/>
          </a:xfrm>
          <a:prstGeom prst="roundRect">
            <a:avLst>
              <a:gd name="adj" fmla="val 1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TextBox 143"/>
          <p:cNvSpPr txBox="1"/>
          <p:nvPr/>
        </p:nvSpPr>
        <p:spPr>
          <a:xfrm>
            <a:off x="6172200" y="3364991"/>
            <a:ext cx="2651760" cy="393192"/>
          </a:xfrm>
          <a:prstGeom prst="rect">
            <a:avLst/>
          </a:prstGeom>
          <a:noFill/>
        </p:spPr>
        <p:txBody>
          <a:bodyPr wrap="square" anchor="ctr" lIns="18288" rIns="18288" tIns="18288" bIns="18288">
            <a:spAutoFit/>
          </a:bodyPr>
          <a:lstStyle/>
          <a:p>
            <a:pPr algn="l"/>
            <a:r>
              <a:rPr sz="900" b="1" i="0">
                <a:solidFill>
                  <a:srgbClr val="1A1A1A"/>
                </a:solidFill>
                <a:latin typeface="Google Sans Flex"/>
              </a:rPr>
              <a:t>PGlite</a:t>
            </a:r>
          </a:p>
          <a:p>
            <a:pPr algn="l"/>
            <a:r>
              <a:rPr sz="750" b="0" i="0">
                <a:solidFill>
                  <a:srgbClr val="5F6368"/>
                </a:solidFill>
                <a:latin typeface="Google Sans Flex"/>
              </a:rPr>
              <a:t>local development database</a:t>
            </a:r>
          </a:p>
        </p:txBody>
      </p:sp>
      <p:sp>
        <p:nvSpPr>
          <p:cNvPr id="145" name="Rounded Rectangle 144"/>
          <p:cNvSpPr/>
          <p:nvPr/>
        </p:nvSpPr>
        <p:spPr>
          <a:xfrm>
            <a:off x="6080760" y="3813047"/>
            <a:ext cx="2788920" cy="429768"/>
          </a:xfrm>
          <a:prstGeom prst="roundRect">
            <a:avLst>
              <a:gd name="adj" fmla="val 1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TextBox 145"/>
          <p:cNvSpPr txBox="1"/>
          <p:nvPr/>
        </p:nvSpPr>
        <p:spPr>
          <a:xfrm>
            <a:off x="6172200" y="3831335"/>
            <a:ext cx="2651760" cy="393192"/>
          </a:xfrm>
          <a:prstGeom prst="rect">
            <a:avLst/>
          </a:prstGeom>
          <a:noFill/>
        </p:spPr>
        <p:txBody>
          <a:bodyPr wrap="square" anchor="ctr" lIns="18288" rIns="18288" tIns="18288" bIns="18288">
            <a:spAutoFit/>
          </a:bodyPr>
          <a:lstStyle/>
          <a:p>
            <a:pPr algn="l"/>
            <a:r>
              <a:rPr sz="900" b="1" i="0">
                <a:solidFill>
                  <a:srgbClr val="1A1A1A"/>
                </a:solidFill>
                <a:latin typeface="Google Sans Flex"/>
              </a:rPr>
              <a:t>axe-core · Playwright</a:t>
            </a:r>
          </a:p>
          <a:p>
            <a:pPr algn="l"/>
            <a:r>
              <a:rPr sz="750" b="0" i="0">
                <a:solidFill>
                  <a:srgbClr val="5F6368"/>
                </a:solidFill>
                <a:latin typeface="Google Sans Flex"/>
              </a:rPr>
              <a:t>accessibility checks, screenshots</a:t>
            </a:r>
          </a:p>
        </p:txBody>
      </p:sp>
      <p:sp>
        <p:nvSpPr>
          <p:cNvPr id="147" name="Rounded Rectangle 146"/>
          <p:cNvSpPr/>
          <p:nvPr/>
        </p:nvSpPr>
        <p:spPr>
          <a:xfrm>
            <a:off x="6080760" y="4279391"/>
            <a:ext cx="2788920" cy="429768"/>
          </a:xfrm>
          <a:prstGeom prst="roundRect">
            <a:avLst>
              <a:gd name="adj" fmla="val 1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TextBox 147"/>
          <p:cNvSpPr txBox="1"/>
          <p:nvPr/>
        </p:nvSpPr>
        <p:spPr>
          <a:xfrm>
            <a:off x="6172200" y="4297679"/>
            <a:ext cx="2651760" cy="393192"/>
          </a:xfrm>
          <a:prstGeom prst="rect">
            <a:avLst/>
          </a:prstGeom>
          <a:noFill/>
        </p:spPr>
        <p:txBody>
          <a:bodyPr wrap="square" anchor="ctr" lIns="18288" rIns="18288" tIns="18288" bIns="18288">
            <a:spAutoFit/>
          </a:bodyPr>
          <a:lstStyle/>
          <a:p>
            <a:pPr algn="l"/>
            <a:r>
              <a:rPr sz="900" b="1" i="0">
                <a:solidFill>
                  <a:srgbClr val="1A1A1A"/>
                </a:solidFill>
                <a:latin typeface="Google Sans Flex"/>
              </a:rPr>
              <a:t>Public datasets</a:t>
            </a:r>
          </a:p>
          <a:p>
            <a:pPr algn="l"/>
            <a:r>
              <a:rPr sz="750" b="0" i="0">
                <a:solidFill>
                  <a:srgbClr val="5F6368"/>
                </a:solidFill>
                <a:latin typeface="Google Sans Flex"/>
              </a:rPr>
              <a:t>YouCook2, ai4privacy (evaluation)</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sp>
        <p:nvSpPr>
          <p:cNvPr id="120" name="Rounded Rectangle 119"/>
          <p:cNvSpPr/>
          <p:nvPr/>
        </p:nvSpPr>
        <p:spPr>
          <a:xfrm>
            <a:off x="274320" y="1280160"/>
            <a:ext cx="5486400" cy="475488"/>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Box 120"/>
          <p:cNvSpPr txBox="1"/>
          <p:nvPr/>
        </p:nvSpPr>
        <p:spPr>
          <a:xfrm>
            <a:off x="384048" y="1298448"/>
            <a:ext cx="2834640" cy="438912"/>
          </a:xfrm>
          <a:prstGeom prst="rect">
            <a:avLst/>
          </a:prstGeom>
          <a:noFill/>
        </p:spPr>
        <p:txBody>
          <a:bodyPr wrap="square" anchor="ctr" lIns="18288" rIns="18288" tIns="18288" bIns="18288">
            <a:spAutoFit/>
          </a:bodyPr>
          <a:lstStyle/>
          <a:p>
            <a:pPr algn="l"/>
            <a:r>
              <a:rPr sz="950" b="1" i="0">
                <a:solidFill>
                  <a:srgbClr val="1A1A1A"/>
                </a:solidFill>
                <a:latin typeface="Google Sans Flex"/>
              </a:rPr>
              <a:t>Build one Work Map (Gemini 2.5 Flash)</a:t>
            </a:r>
          </a:p>
        </p:txBody>
      </p:sp>
      <p:sp>
        <p:nvSpPr>
          <p:cNvPr id="122" name="TextBox 121"/>
          <p:cNvSpPr txBox="1"/>
          <p:nvPr/>
        </p:nvSpPr>
        <p:spPr>
          <a:xfrm>
            <a:off x="3200400" y="1298448"/>
            <a:ext cx="1143000" cy="438912"/>
          </a:xfrm>
          <a:prstGeom prst="rect">
            <a:avLst/>
          </a:prstGeom>
          <a:noFill/>
        </p:spPr>
        <p:txBody>
          <a:bodyPr wrap="square" anchor="ctr" lIns="18288" rIns="18288" tIns="18288" bIns="18288">
            <a:spAutoFit/>
          </a:bodyPr>
          <a:lstStyle/>
          <a:p>
            <a:pPr algn="l"/>
            <a:r>
              <a:rPr sz="1100" b="1" i="0">
                <a:solidFill>
                  <a:srgbClr val="1A1A1A"/>
                </a:solidFill>
                <a:latin typeface="Google Sans Flex"/>
              </a:rPr>
              <a:t>≈ $0.005</a:t>
            </a:r>
          </a:p>
        </p:txBody>
      </p:sp>
      <p:sp>
        <p:nvSpPr>
          <p:cNvPr id="123" name="TextBox 122"/>
          <p:cNvSpPr txBox="1"/>
          <p:nvPr/>
        </p:nvSpPr>
        <p:spPr>
          <a:xfrm>
            <a:off x="4389120" y="1298448"/>
            <a:ext cx="1325880" cy="438912"/>
          </a:xfrm>
          <a:prstGeom prst="rect">
            <a:avLst/>
          </a:prstGeom>
          <a:noFill/>
        </p:spPr>
        <p:txBody>
          <a:bodyPr wrap="square" anchor="ctr" lIns="18288" rIns="18288" tIns="18288" bIns="18288">
            <a:spAutoFit/>
          </a:bodyPr>
          <a:lstStyle/>
          <a:p>
            <a:pPr algn="l"/>
            <a:r>
              <a:rPr sz="750" b="0" i="1">
                <a:solidFill>
                  <a:srgbClr val="1E7A4C"/>
                </a:solidFill>
                <a:latin typeface="Google Sans Flex"/>
              </a:rPr>
              <a:t>Measured: 50 builds cost $0.23</a:t>
            </a:r>
          </a:p>
        </p:txBody>
      </p:sp>
      <p:sp>
        <p:nvSpPr>
          <p:cNvPr id="124" name="Rounded Rectangle 123"/>
          <p:cNvSpPr/>
          <p:nvPr/>
        </p:nvSpPr>
        <p:spPr>
          <a:xfrm>
            <a:off x="274320" y="1828800"/>
            <a:ext cx="5486400" cy="475488"/>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Box 124"/>
          <p:cNvSpPr txBox="1"/>
          <p:nvPr/>
        </p:nvSpPr>
        <p:spPr>
          <a:xfrm>
            <a:off x="384048" y="1847088"/>
            <a:ext cx="2834640" cy="438912"/>
          </a:xfrm>
          <a:prstGeom prst="rect">
            <a:avLst/>
          </a:prstGeom>
          <a:noFill/>
        </p:spPr>
        <p:txBody>
          <a:bodyPr wrap="square" anchor="ctr" lIns="18288" rIns="18288" tIns="18288" bIns="18288">
            <a:spAutoFit/>
          </a:bodyPr>
          <a:lstStyle/>
          <a:p>
            <a:pPr algn="l"/>
            <a:r>
              <a:rPr sz="950" b="1" i="0">
                <a:solidFill>
                  <a:srgbClr val="1A1A1A"/>
                </a:solidFill>
                <a:latin typeface="Google Sans Flex"/>
              </a:rPr>
              <a:t>10-minute live capture with Moti</a:t>
            </a:r>
          </a:p>
        </p:txBody>
      </p:sp>
      <p:sp>
        <p:nvSpPr>
          <p:cNvPr id="126" name="TextBox 125"/>
          <p:cNvSpPr txBox="1"/>
          <p:nvPr/>
        </p:nvSpPr>
        <p:spPr>
          <a:xfrm>
            <a:off x="3200400" y="1847088"/>
            <a:ext cx="1143000" cy="438912"/>
          </a:xfrm>
          <a:prstGeom prst="rect">
            <a:avLst/>
          </a:prstGeom>
          <a:noFill/>
        </p:spPr>
        <p:txBody>
          <a:bodyPr wrap="square" anchor="ctr" lIns="18288" rIns="18288" tIns="18288" bIns="18288">
            <a:spAutoFit/>
          </a:bodyPr>
          <a:lstStyle/>
          <a:p>
            <a:pPr algn="l"/>
            <a:r>
              <a:rPr sz="1100" b="1" i="0">
                <a:solidFill>
                  <a:srgbClr val="1A1A1A"/>
                </a:solidFill>
                <a:latin typeface="Google Sans Flex"/>
              </a:rPr>
              <a:t>≈ $0.10–0.20</a:t>
            </a:r>
          </a:p>
        </p:txBody>
      </p:sp>
      <p:sp>
        <p:nvSpPr>
          <p:cNvPr id="127" name="TextBox 126"/>
          <p:cNvSpPr txBox="1"/>
          <p:nvPr/>
        </p:nvSpPr>
        <p:spPr>
          <a:xfrm>
            <a:off x="4389120" y="1847088"/>
            <a:ext cx="1325880" cy="438912"/>
          </a:xfrm>
          <a:prstGeom prst="rect">
            <a:avLst/>
          </a:prstGeom>
          <a:noFill/>
        </p:spPr>
        <p:txBody>
          <a:bodyPr wrap="square" anchor="ctr" lIns="18288" rIns="18288" tIns="18288" bIns="18288">
            <a:spAutoFit/>
          </a:bodyPr>
          <a:lstStyle/>
          <a:p>
            <a:pPr algn="l"/>
            <a:r>
              <a:rPr sz="750" b="0" i="1">
                <a:solidFill>
                  <a:srgbClr val="B8860B"/>
                </a:solidFill>
                <a:latin typeface="Google Sans Flex"/>
              </a:rPr>
              <a:t>Estimate at list prices</a:t>
            </a:r>
          </a:p>
        </p:txBody>
      </p:sp>
      <p:sp>
        <p:nvSpPr>
          <p:cNvPr id="128" name="Rounded Rectangle 127"/>
          <p:cNvSpPr/>
          <p:nvPr/>
        </p:nvSpPr>
        <p:spPr>
          <a:xfrm>
            <a:off x="274320" y="2377440"/>
            <a:ext cx="5486400" cy="475488"/>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Box 128"/>
          <p:cNvSpPr txBox="1"/>
          <p:nvPr/>
        </p:nvSpPr>
        <p:spPr>
          <a:xfrm>
            <a:off x="384048" y="2395728"/>
            <a:ext cx="2834640" cy="438912"/>
          </a:xfrm>
          <a:prstGeom prst="rect">
            <a:avLst/>
          </a:prstGeom>
          <a:noFill/>
        </p:spPr>
        <p:txBody>
          <a:bodyPr wrap="square" anchor="ctr" lIns="18288" rIns="18288" tIns="18288" bIns="18288">
            <a:spAutoFit/>
          </a:bodyPr>
          <a:lstStyle/>
          <a:p>
            <a:pPr algn="l"/>
            <a:r>
              <a:rPr sz="950" b="1" i="0">
                <a:solidFill>
                  <a:srgbClr val="1A1A1A"/>
                </a:solidFill>
                <a:latin typeface="Google Sans Flex"/>
              </a:rPr>
              <a:t>Spoken lesson, per language (cached)</a:t>
            </a:r>
          </a:p>
        </p:txBody>
      </p:sp>
      <p:sp>
        <p:nvSpPr>
          <p:cNvPr id="130" name="TextBox 129"/>
          <p:cNvSpPr txBox="1"/>
          <p:nvPr/>
        </p:nvSpPr>
        <p:spPr>
          <a:xfrm>
            <a:off x="3200400" y="2395728"/>
            <a:ext cx="1143000" cy="438912"/>
          </a:xfrm>
          <a:prstGeom prst="rect">
            <a:avLst/>
          </a:prstGeom>
          <a:noFill/>
        </p:spPr>
        <p:txBody>
          <a:bodyPr wrap="square" anchor="ctr" lIns="18288" rIns="18288" tIns="18288" bIns="18288">
            <a:spAutoFit/>
          </a:bodyPr>
          <a:lstStyle/>
          <a:p>
            <a:pPr algn="l"/>
            <a:r>
              <a:rPr sz="1100" b="1" i="0">
                <a:solidFill>
                  <a:srgbClr val="1A1A1A"/>
                </a:solidFill>
                <a:latin typeface="Google Sans Flex"/>
              </a:rPr>
              <a:t>≈ $0.01</a:t>
            </a:r>
          </a:p>
        </p:txBody>
      </p:sp>
      <p:sp>
        <p:nvSpPr>
          <p:cNvPr id="131" name="TextBox 130"/>
          <p:cNvSpPr txBox="1"/>
          <p:nvPr/>
        </p:nvSpPr>
        <p:spPr>
          <a:xfrm>
            <a:off x="4389120" y="2395728"/>
            <a:ext cx="1325880" cy="438912"/>
          </a:xfrm>
          <a:prstGeom prst="rect">
            <a:avLst/>
          </a:prstGeom>
          <a:noFill/>
        </p:spPr>
        <p:txBody>
          <a:bodyPr wrap="square" anchor="ctr" lIns="18288" rIns="18288" tIns="18288" bIns="18288">
            <a:spAutoFit/>
          </a:bodyPr>
          <a:lstStyle/>
          <a:p>
            <a:pPr algn="l"/>
            <a:r>
              <a:rPr sz="750" b="0" i="1">
                <a:solidFill>
                  <a:srgbClr val="B8860B"/>
                </a:solidFill>
                <a:latin typeface="Google Sans Flex"/>
              </a:rPr>
              <a:t>Estimate at list prices</a:t>
            </a:r>
          </a:p>
        </p:txBody>
      </p:sp>
      <p:sp>
        <p:nvSpPr>
          <p:cNvPr id="132" name="Rounded Rectangle 131"/>
          <p:cNvSpPr/>
          <p:nvPr/>
        </p:nvSpPr>
        <p:spPr>
          <a:xfrm>
            <a:off x="274320" y="2926080"/>
            <a:ext cx="5486400" cy="475488"/>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Box 132"/>
          <p:cNvSpPr txBox="1"/>
          <p:nvPr/>
        </p:nvSpPr>
        <p:spPr>
          <a:xfrm>
            <a:off x="384048" y="2944368"/>
            <a:ext cx="2834640" cy="438912"/>
          </a:xfrm>
          <a:prstGeom prst="rect">
            <a:avLst/>
          </a:prstGeom>
          <a:noFill/>
        </p:spPr>
        <p:txBody>
          <a:bodyPr wrap="square" anchor="ctr" lIns="18288" rIns="18288" tIns="18288" bIns="18288">
            <a:spAutoFit/>
          </a:bodyPr>
          <a:lstStyle/>
          <a:p>
            <a:pPr algn="l"/>
            <a:r>
              <a:rPr sz="950" b="1" i="0">
                <a:solidFill>
                  <a:srgbClr val="1A1A1A"/>
                </a:solidFill>
                <a:latin typeface="Google Sans Flex"/>
              </a:rPr>
              <a:t>One agent check</a:t>
            </a:r>
          </a:p>
        </p:txBody>
      </p:sp>
      <p:sp>
        <p:nvSpPr>
          <p:cNvPr id="134" name="TextBox 133"/>
          <p:cNvSpPr txBox="1"/>
          <p:nvPr/>
        </p:nvSpPr>
        <p:spPr>
          <a:xfrm>
            <a:off x="3200400" y="2944368"/>
            <a:ext cx="1143000" cy="438912"/>
          </a:xfrm>
          <a:prstGeom prst="rect">
            <a:avLst/>
          </a:prstGeom>
          <a:noFill/>
        </p:spPr>
        <p:txBody>
          <a:bodyPr wrap="square" anchor="ctr" lIns="18288" rIns="18288" tIns="18288" bIns="18288">
            <a:spAutoFit/>
          </a:bodyPr>
          <a:lstStyle/>
          <a:p>
            <a:pPr algn="l"/>
            <a:r>
              <a:rPr sz="1100" b="1" i="0">
                <a:solidFill>
                  <a:srgbClr val="1A1A1A"/>
                </a:solidFill>
                <a:latin typeface="Google Sans Flex"/>
              </a:rPr>
              <a:t>&lt; $0.001</a:t>
            </a:r>
          </a:p>
        </p:txBody>
      </p:sp>
      <p:sp>
        <p:nvSpPr>
          <p:cNvPr id="135" name="TextBox 134"/>
          <p:cNvSpPr txBox="1"/>
          <p:nvPr/>
        </p:nvSpPr>
        <p:spPr>
          <a:xfrm>
            <a:off x="4389120" y="2944368"/>
            <a:ext cx="1325880" cy="438912"/>
          </a:xfrm>
          <a:prstGeom prst="rect">
            <a:avLst/>
          </a:prstGeom>
          <a:noFill/>
        </p:spPr>
        <p:txBody>
          <a:bodyPr wrap="square" anchor="ctr" lIns="18288" rIns="18288" tIns="18288" bIns="18288">
            <a:spAutoFit/>
          </a:bodyPr>
          <a:lstStyle/>
          <a:p>
            <a:pPr algn="l"/>
            <a:r>
              <a:rPr sz="750" b="0" i="1">
                <a:solidFill>
                  <a:srgbClr val="B8860B"/>
                </a:solidFill>
                <a:latin typeface="Google Sans Flex"/>
              </a:rPr>
              <a:t>Estimate at list prices</a:t>
            </a:r>
          </a:p>
        </p:txBody>
      </p:sp>
      <p:sp>
        <p:nvSpPr>
          <p:cNvPr id="136" name="Rounded Rectangle 135"/>
          <p:cNvSpPr/>
          <p:nvPr/>
        </p:nvSpPr>
        <p:spPr>
          <a:xfrm>
            <a:off x="274320" y="3474720"/>
            <a:ext cx="5486400" cy="475488"/>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TextBox 136"/>
          <p:cNvSpPr txBox="1"/>
          <p:nvPr/>
        </p:nvSpPr>
        <p:spPr>
          <a:xfrm>
            <a:off x="384048" y="3493008"/>
            <a:ext cx="2834640" cy="438912"/>
          </a:xfrm>
          <a:prstGeom prst="rect">
            <a:avLst/>
          </a:prstGeom>
          <a:noFill/>
        </p:spPr>
        <p:txBody>
          <a:bodyPr wrap="square" anchor="ctr" lIns="18288" rIns="18288" tIns="18288" bIns="18288">
            <a:spAutoFit/>
          </a:bodyPr>
          <a:lstStyle/>
          <a:p>
            <a:pPr algn="l"/>
            <a:r>
              <a:rPr sz="950" b="1" i="0">
                <a:solidFill>
                  <a:srgbClr val="1A1A1A"/>
                </a:solidFill>
                <a:latin typeface="Google Sans Flex"/>
              </a:rPr>
              <a:t>Cloud Run</a:t>
            </a:r>
          </a:p>
        </p:txBody>
      </p:sp>
      <p:sp>
        <p:nvSpPr>
          <p:cNvPr id="138" name="TextBox 137"/>
          <p:cNvSpPr txBox="1"/>
          <p:nvPr/>
        </p:nvSpPr>
        <p:spPr>
          <a:xfrm>
            <a:off x="3200400" y="3493008"/>
            <a:ext cx="1143000" cy="438912"/>
          </a:xfrm>
          <a:prstGeom prst="rect">
            <a:avLst/>
          </a:prstGeom>
          <a:noFill/>
        </p:spPr>
        <p:txBody>
          <a:bodyPr wrap="square" anchor="ctr" lIns="18288" rIns="18288" tIns="18288" bIns="18288">
            <a:spAutoFit/>
          </a:bodyPr>
          <a:lstStyle/>
          <a:p>
            <a:pPr algn="l"/>
            <a:r>
              <a:rPr sz="1100" b="1" i="0">
                <a:solidFill>
                  <a:srgbClr val="1A1A1A"/>
                </a:solidFill>
                <a:latin typeface="Google Sans Flex"/>
              </a:rPr>
              <a:t>pay per use</a:t>
            </a:r>
          </a:p>
        </p:txBody>
      </p:sp>
      <p:sp>
        <p:nvSpPr>
          <p:cNvPr id="139" name="TextBox 138"/>
          <p:cNvSpPr txBox="1"/>
          <p:nvPr/>
        </p:nvSpPr>
        <p:spPr>
          <a:xfrm>
            <a:off x="4389120" y="3493008"/>
            <a:ext cx="1325880" cy="438912"/>
          </a:xfrm>
          <a:prstGeom prst="rect">
            <a:avLst/>
          </a:prstGeom>
          <a:noFill/>
        </p:spPr>
        <p:txBody>
          <a:bodyPr wrap="square" anchor="ctr" lIns="18288" rIns="18288" tIns="18288" bIns="18288">
            <a:spAutoFit/>
          </a:bodyPr>
          <a:lstStyle/>
          <a:p>
            <a:pPr algn="l"/>
            <a:r>
              <a:rPr sz="750" b="0" i="1">
                <a:solidFill>
                  <a:srgbClr val="5F6368"/>
                </a:solidFill>
                <a:latin typeface="Google Sans Flex"/>
              </a:rPr>
              <a:t>scales to zero</a:t>
            </a:r>
          </a:p>
        </p:txBody>
      </p:sp>
      <p:sp>
        <p:nvSpPr>
          <p:cNvPr id="140" name="Rounded Rectangle 139"/>
          <p:cNvSpPr/>
          <p:nvPr/>
        </p:nvSpPr>
        <p:spPr>
          <a:xfrm>
            <a:off x="274320" y="4023360"/>
            <a:ext cx="5486400" cy="475488"/>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TextBox 140"/>
          <p:cNvSpPr txBox="1"/>
          <p:nvPr/>
        </p:nvSpPr>
        <p:spPr>
          <a:xfrm>
            <a:off x="384048" y="4041648"/>
            <a:ext cx="2834640" cy="438912"/>
          </a:xfrm>
          <a:prstGeom prst="rect">
            <a:avLst/>
          </a:prstGeom>
          <a:noFill/>
        </p:spPr>
        <p:txBody>
          <a:bodyPr wrap="square" anchor="ctr" lIns="18288" rIns="18288" tIns="18288" bIns="18288">
            <a:spAutoFit/>
          </a:bodyPr>
          <a:lstStyle/>
          <a:p>
            <a:pPr algn="l"/>
            <a:r>
              <a:rPr sz="950" b="1" i="0">
                <a:solidFill>
                  <a:srgbClr val="1A1A1A"/>
                </a:solidFill>
                <a:latin typeface="Google Sans Flex"/>
              </a:rPr>
              <a:t>Cloud SQL (db-f1-micro) + Storage</a:t>
            </a:r>
          </a:p>
        </p:txBody>
      </p:sp>
      <p:sp>
        <p:nvSpPr>
          <p:cNvPr id="142" name="TextBox 141"/>
          <p:cNvSpPr txBox="1"/>
          <p:nvPr/>
        </p:nvSpPr>
        <p:spPr>
          <a:xfrm>
            <a:off x="3200400" y="4041648"/>
            <a:ext cx="1143000" cy="438912"/>
          </a:xfrm>
          <a:prstGeom prst="rect">
            <a:avLst/>
          </a:prstGeom>
          <a:noFill/>
        </p:spPr>
        <p:txBody>
          <a:bodyPr wrap="square" anchor="ctr" lIns="18288" rIns="18288" tIns="18288" bIns="18288">
            <a:spAutoFit/>
          </a:bodyPr>
          <a:lstStyle/>
          <a:p>
            <a:pPr algn="l"/>
            <a:r>
              <a:rPr sz="1100" b="1" i="0">
                <a:solidFill>
                  <a:srgbClr val="1A1A1A"/>
                </a:solidFill>
                <a:latin typeface="Google Sans Flex"/>
              </a:rPr>
              <a:t>≈ $10–15/mo</a:t>
            </a:r>
          </a:p>
        </p:txBody>
      </p:sp>
      <p:sp>
        <p:nvSpPr>
          <p:cNvPr id="143" name="TextBox 142"/>
          <p:cNvSpPr txBox="1"/>
          <p:nvPr/>
        </p:nvSpPr>
        <p:spPr>
          <a:xfrm>
            <a:off x="4389120" y="4041648"/>
            <a:ext cx="1325880" cy="438912"/>
          </a:xfrm>
          <a:prstGeom prst="rect">
            <a:avLst/>
          </a:prstGeom>
          <a:noFill/>
        </p:spPr>
        <p:txBody>
          <a:bodyPr wrap="square" anchor="ctr" lIns="18288" rIns="18288" tIns="18288" bIns="18288">
            <a:spAutoFit/>
          </a:bodyPr>
          <a:lstStyle/>
          <a:p>
            <a:pPr algn="l"/>
            <a:r>
              <a:rPr sz="750" b="0" i="1">
                <a:solidFill>
                  <a:srgbClr val="B8860B"/>
                </a:solidFill>
                <a:latin typeface="Google Sans Flex"/>
              </a:rPr>
              <a:t>pilot size, estimate</a:t>
            </a:r>
          </a:p>
        </p:txBody>
      </p:sp>
      <p:sp>
        <p:nvSpPr>
          <p:cNvPr id="144" name="Rounded Rectangle 143"/>
          <p:cNvSpPr/>
          <p:nvPr/>
        </p:nvSpPr>
        <p:spPr>
          <a:xfrm>
            <a:off x="5989320" y="1280160"/>
            <a:ext cx="2880360" cy="1600200"/>
          </a:xfrm>
          <a:prstGeom prst="roundRect">
            <a:avLst>
              <a:gd name="adj" fmla="val 8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Box 144"/>
          <p:cNvSpPr txBox="1"/>
          <p:nvPr/>
        </p:nvSpPr>
        <p:spPr>
          <a:xfrm>
            <a:off x="6126480" y="1353312"/>
            <a:ext cx="2606040" cy="1463040"/>
          </a:xfrm>
          <a:prstGeom prst="rect">
            <a:avLst/>
          </a:prstGeom>
          <a:noFill/>
        </p:spPr>
        <p:txBody>
          <a:bodyPr wrap="square" anchor="t" lIns="18288" rIns="18288" tIns="18288" bIns="18288">
            <a:spAutoFit/>
          </a:bodyPr>
          <a:lstStyle/>
          <a:p>
            <a:pPr algn="l">
              <a:spcAft>
                <a:spcPts val="400"/>
              </a:spcAft>
            </a:pPr>
            <a:r>
              <a:rPr sz="900" b="1" i="0">
                <a:solidFill>
                  <a:srgbClr val="B8860B"/>
                </a:solidFill>
                <a:latin typeface="Google Sans Flex"/>
              </a:rPr>
              <a:t>Example</a:t>
            </a:r>
          </a:p>
          <a:p>
            <a:pPr algn="l">
              <a:spcAft>
                <a:spcPts val="400"/>
              </a:spcAft>
            </a:pPr>
            <a:r>
              <a:rPr sz="1000" b="0" i="0">
                <a:solidFill>
                  <a:srgbClr val="FFFFFF"/>
                </a:solidFill>
                <a:latin typeface="Google Sans Flex"/>
              </a:rPr>
              <a:t>One expert, 20 workflows, about 30 minutes each:</a:t>
            </a:r>
          </a:p>
          <a:p>
            <a:pPr algn="l">
              <a:spcAft>
                <a:spcPts val="400"/>
              </a:spcAft>
            </a:pPr>
            <a:r>
              <a:rPr sz="2000" b="1" i="0">
                <a:solidFill>
                  <a:srgbClr val="FFFFFF"/>
                </a:solidFill>
                <a:latin typeface="Google Sans Flex"/>
              </a:rPr>
              <a:t>under $15 of AI</a:t>
            </a:r>
          </a:p>
          <a:p>
            <a:pPr algn="l">
              <a:spcAft>
                <a:spcPts val="400"/>
              </a:spcAft>
            </a:pPr>
            <a:r>
              <a:rPr sz="850" b="0" i="0">
                <a:solidFill>
                  <a:srgbClr val="CCCCCC"/>
                </a:solidFill>
                <a:latin typeface="Google Sans Flex"/>
              </a:rPr>
              <a:t>for a fully mapped role (estimate)</a:t>
            </a:r>
          </a:p>
        </p:txBody>
      </p:sp>
      <p:sp>
        <p:nvSpPr>
          <p:cNvPr id="146" name="TextBox 145"/>
          <p:cNvSpPr txBox="1"/>
          <p:nvPr/>
        </p:nvSpPr>
        <p:spPr>
          <a:xfrm>
            <a:off x="5989320" y="3017520"/>
            <a:ext cx="2880360" cy="1188720"/>
          </a:xfrm>
          <a:prstGeom prst="rect">
            <a:avLst/>
          </a:prstGeom>
          <a:noFill/>
        </p:spPr>
        <p:txBody>
          <a:bodyPr wrap="square" anchor="t" lIns="18288" rIns="18288" tIns="18288" bIns="18288">
            <a:spAutoFit/>
          </a:bodyPr>
          <a:lstStyle/>
          <a:p>
            <a:pPr algn="l"/>
            <a:r>
              <a:rPr sz="850" b="1" i="0">
                <a:solidFill>
                  <a:srgbClr val="1A1A1A"/>
                </a:solidFill>
                <a:latin typeface="Google Sans Flex"/>
              </a:rPr>
              <a:t>How we know: </a:t>
            </a:r>
            <a:r>
              <a:rPr sz="850" b="0" i="0">
                <a:solidFill>
                  <a:srgbClr val="5F6368"/>
                </a:solidFill>
                <a:latin typeface="Google Sans Flex"/>
              </a:rPr>
              <a:t>every AI call is logged with its list-price cost, and the Impact page shows AI cost per map. Green = measured; gold = estimate.</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pic>
        <p:nvPicPr>
          <p:cNvPr id="128" name="Picture 127" descr="photo_real-work-expert.jpg_3.00x1.62.jpg"/>
          <p:cNvPicPr>
            <a:picLocks noChangeAspect="1"/>
          </p:cNvPicPr>
          <p:nvPr/>
        </p:nvPicPr>
        <p:blipFill>
          <a:blip r:embed="rId5"/>
          <a:stretch>
            <a:fillRect/>
          </a:stretch>
        </p:blipFill>
        <p:spPr>
          <a:xfrm>
            <a:off x="274320" y="1207008"/>
            <a:ext cx="2743200" cy="1481328"/>
          </a:xfrm>
          <a:prstGeom prst="rect">
            <a:avLst/>
          </a:prstGeom>
        </p:spPr>
      </p:pic>
      <p:sp>
        <p:nvSpPr>
          <p:cNvPr id="129" name="TextBox 128"/>
          <p:cNvSpPr txBox="1"/>
          <p:nvPr/>
        </p:nvSpPr>
        <p:spPr>
          <a:xfrm>
            <a:off x="274320" y="2706624"/>
            <a:ext cx="2743200" cy="256032"/>
          </a:xfrm>
          <a:prstGeom prst="rect">
            <a:avLst/>
          </a:prstGeom>
          <a:noFill/>
        </p:spPr>
        <p:txBody>
          <a:bodyPr wrap="square" anchor="t" lIns="18288" rIns="18288" tIns="18288" bIns="18288">
            <a:spAutoFit/>
          </a:bodyPr>
          <a:lstStyle/>
          <a:p>
            <a:pPr algn="ctr"/>
            <a:r>
              <a:rPr sz="900" b="1" i="0">
                <a:solidFill>
                  <a:srgbClr val="1A1A1A"/>
                </a:solidFill>
                <a:latin typeface="Google Sans Flex"/>
              </a:rPr>
              <a:t>Work: an expert shares her screen</a:t>
            </a:r>
          </a:p>
        </p:txBody>
      </p:sp>
      <p:pic>
        <p:nvPicPr>
          <p:cNvPr id="130" name="Picture 129" descr="photo_real-culture-capture.jpg_3.00x1.62.jpg"/>
          <p:cNvPicPr>
            <a:picLocks noChangeAspect="1"/>
          </p:cNvPicPr>
          <p:nvPr/>
        </p:nvPicPr>
        <p:blipFill>
          <a:blip r:embed="rId6"/>
          <a:stretch>
            <a:fillRect/>
          </a:stretch>
        </p:blipFill>
        <p:spPr>
          <a:xfrm>
            <a:off x="3163824" y="1207008"/>
            <a:ext cx="2743200" cy="1481328"/>
          </a:xfrm>
          <a:prstGeom prst="rect">
            <a:avLst/>
          </a:prstGeom>
        </p:spPr>
      </p:pic>
      <p:sp>
        <p:nvSpPr>
          <p:cNvPr id="131" name="TextBox 130"/>
          <p:cNvSpPr txBox="1"/>
          <p:nvPr/>
        </p:nvSpPr>
        <p:spPr>
          <a:xfrm>
            <a:off x="3163824" y="2706624"/>
            <a:ext cx="2743200" cy="256032"/>
          </a:xfrm>
          <a:prstGeom prst="rect">
            <a:avLst/>
          </a:prstGeom>
          <a:noFill/>
        </p:spPr>
        <p:txBody>
          <a:bodyPr wrap="square" anchor="t" lIns="18288" rIns="18288" tIns="18288" bIns="18288">
            <a:spAutoFit/>
          </a:bodyPr>
          <a:lstStyle/>
          <a:p>
            <a:pPr algn="ctr"/>
            <a:r>
              <a:rPr sz="900" b="1" i="0">
                <a:solidFill>
                  <a:srgbClr val="1A1A1A"/>
                </a:solidFill>
                <a:latin typeface="Google Sans Flex"/>
              </a:rPr>
              <a:t>Culture: Moti asks in Marathi</a:t>
            </a:r>
          </a:p>
        </p:txBody>
      </p:sp>
      <p:pic>
        <p:nvPicPr>
          <p:cNvPr id="132" name="Picture 131" descr="photo_real-practice.jpg_3.00x1.62.jpg"/>
          <p:cNvPicPr>
            <a:picLocks noChangeAspect="1"/>
          </p:cNvPicPr>
          <p:nvPr/>
        </p:nvPicPr>
        <p:blipFill>
          <a:blip r:embed="rId7"/>
          <a:stretch>
            <a:fillRect/>
          </a:stretch>
        </p:blipFill>
        <p:spPr>
          <a:xfrm>
            <a:off x="6053328" y="1207008"/>
            <a:ext cx="2743200" cy="1481328"/>
          </a:xfrm>
          <a:prstGeom prst="rect">
            <a:avLst/>
          </a:prstGeom>
        </p:spPr>
      </p:pic>
      <p:sp>
        <p:nvSpPr>
          <p:cNvPr id="133" name="TextBox 132"/>
          <p:cNvSpPr txBox="1"/>
          <p:nvPr/>
        </p:nvSpPr>
        <p:spPr>
          <a:xfrm>
            <a:off x="6053328" y="2706624"/>
            <a:ext cx="2743200" cy="256032"/>
          </a:xfrm>
          <a:prstGeom prst="rect">
            <a:avLst/>
          </a:prstGeom>
          <a:noFill/>
        </p:spPr>
        <p:txBody>
          <a:bodyPr wrap="square" anchor="t" lIns="18288" rIns="18288" tIns="18288" bIns="18288">
            <a:spAutoFit/>
          </a:bodyPr>
          <a:lstStyle/>
          <a:p>
            <a:pPr algn="ctr"/>
            <a:r>
              <a:rPr sz="900" b="1" i="0">
                <a:solidFill>
                  <a:srgbClr val="1A1A1A"/>
                </a:solidFill>
                <a:latin typeface="Google Sans Flex"/>
              </a:rPr>
              <a:t>Kiran practises; Moti tutors</a:t>
            </a:r>
          </a:p>
        </p:txBody>
      </p:sp>
      <p:pic>
        <p:nvPicPr>
          <p:cNvPr id="134" name="Picture 133" descr="05-live-capture.png"/>
          <p:cNvPicPr>
            <a:picLocks noChangeAspect="1"/>
          </p:cNvPicPr>
          <p:nvPr/>
        </p:nvPicPr>
        <p:blipFill>
          <a:blip r:embed="rId8"/>
          <a:stretch>
            <a:fillRect/>
          </a:stretch>
        </p:blipFill>
        <p:spPr>
          <a:xfrm>
            <a:off x="469469" y="3035808"/>
            <a:ext cx="2352900" cy="1481328"/>
          </a:xfrm>
          <a:prstGeom prst="rect">
            <a:avLst/>
          </a:prstGeom>
          <a:ln w="9525">
            <a:solidFill>
              <a:srgbClr val="E2D9CB"/>
            </a:solidFill>
          </a:ln>
        </p:spPr>
      </p:pic>
      <p:sp>
        <p:nvSpPr>
          <p:cNvPr id="135" name="TextBox 134"/>
          <p:cNvSpPr txBox="1"/>
          <p:nvPr/>
        </p:nvSpPr>
        <p:spPr>
          <a:xfrm>
            <a:off x="274320" y="4535424"/>
            <a:ext cx="2743200" cy="256032"/>
          </a:xfrm>
          <a:prstGeom prst="rect">
            <a:avLst/>
          </a:prstGeom>
          <a:noFill/>
        </p:spPr>
        <p:txBody>
          <a:bodyPr wrap="square" anchor="t" lIns="18288" rIns="18288" tIns="18288" bIns="18288">
            <a:spAutoFit/>
          </a:bodyPr>
          <a:lstStyle/>
          <a:p>
            <a:pPr algn="ctr"/>
            <a:r>
              <a:rPr sz="900" b="1" i="0">
                <a:solidFill>
                  <a:srgbClr val="1A1A1A"/>
                </a:solidFill>
                <a:latin typeface="Google Sans Flex"/>
              </a:rPr>
              <a:t>Moti asks a guardrail question</a:t>
            </a:r>
          </a:p>
        </p:txBody>
      </p:sp>
      <p:pic>
        <p:nvPicPr>
          <p:cNvPr id="136" name="Picture 135" descr="07-work-map.png"/>
          <p:cNvPicPr>
            <a:picLocks noChangeAspect="1"/>
          </p:cNvPicPr>
          <p:nvPr/>
        </p:nvPicPr>
        <p:blipFill>
          <a:blip r:embed="rId9"/>
          <a:stretch>
            <a:fillRect/>
          </a:stretch>
        </p:blipFill>
        <p:spPr>
          <a:xfrm>
            <a:off x="3358973" y="3035808"/>
            <a:ext cx="2352900" cy="1481328"/>
          </a:xfrm>
          <a:prstGeom prst="rect">
            <a:avLst/>
          </a:prstGeom>
          <a:ln w="9525">
            <a:solidFill>
              <a:srgbClr val="E2D9CB"/>
            </a:solidFill>
          </a:ln>
        </p:spPr>
      </p:pic>
      <p:sp>
        <p:nvSpPr>
          <p:cNvPr id="137" name="TextBox 136"/>
          <p:cNvSpPr txBox="1"/>
          <p:nvPr/>
        </p:nvSpPr>
        <p:spPr>
          <a:xfrm>
            <a:off x="3163824" y="4535424"/>
            <a:ext cx="2743200" cy="256032"/>
          </a:xfrm>
          <a:prstGeom prst="rect">
            <a:avLst/>
          </a:prstGeom>
          <a:noFill/>
        </p:spPr>
        <p:txBody>
          <a:bodyPr wrap="square" anchor="t" lIns="18288" rIns="18288" tIns="18288" bIns="18288">
            <a:spAutoFit/>
          </a:bodyPr>
          <a:lstStyle/>
          <a:p>
            <a:pPr algn="ctr"/>
            <a:r>
              <a:rPr sz="900" b="1" i="0">
                <a:solidFill>
                  <a:srgbClr val="1A1A1A"/>
                </a:solidFill>
                <a:latin typeface="Google Sans Flex"/>
              </a:rPr>
              <a:t>Work Map, verified quotes</a:t>
            </a:r>
          </a:p>
        </p:txBody>
      </p:sp>
      <p:pic>
        <p:nvPicPr>
          <p:cNvPr id="138" name="Picture 137" descr="13-tutor-stops.png"/>
          <p:cNvPicPr>
            <a:picLocks noChangeAspect="1"/>
          </p:cNvPicPr>
          <p:nvPr/>
        </p:nvPicPr>
        <p:blipFill>
          <a:blip r:embed="rId10"/>
          <a:stretch>
            <a:fillRect/>
          </a:stretch>
        </p:blipFill>
        <p:spPr>
          <a:xfrm>
            <a:off x="6248477" y="3035808"/>
            <a:ext cx="2352900" cy="1481328"/>
          </a:xfrm>
          <a:prstGeom prst="rect">
            <a:avLst/>
          </a:prstGeom>
          <a:ln w="9525">
            <a:solidFill>
              <a:srgbClr val="E2D9CB"/>
            </a:solidFill>
          </a:ln>
        </p:spPr>
      </p:pic>
      <p:sp>
        <p:nvSpPr>
          <p:cNvPr id="139" name="TextBox 138"/>
          <p:cNvSpPr txBox="1"/>
          <p:nvPr/>
        </p:nvSpPr>
        <p:spPr>
          <a:xfrm>
            <a:off x="6053328" y="4535424"/>
            <a:ext cx="2743200" cy="256032"/>
          </a:xfrm>
          <a:prstGeom prst="rect">
            <a:avLst/>
          </a:prstGeom>
          <a:noFill/>
        </p:spPr>
        <p:txBody>
          <a:bodyPr wrap="square" anchor="t" lIns="18288" rIns="18288" tIns="18288" bIns="18288">
            <a:spAutoFit/>
          </a:bodyPr>
          <a:lstStyle/>
          <a:p>
            <a:pPr algn="ctr"/>
            <a:r>
              <a:rPr sz="900" b="1" i="0">
                <a:solidFill>
                  <a:srgbClr val="1A1A1A"/>
                </a:solidFill>
                <a:latin typeface="Google Sans Flex"/>
              </a:rPr>
              <a:t>Tutor stops a mistake (Hindi)</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
        <p:nvSpPr>
          <p:cNvPr id="136" name="Rounded Rectangle 135"/>
          <p:cNvSpPr/>
          <p:nvPr/>
        </p:nvSpPr>
        <p:spPr>
          <a:xfrm>
            <a:off x="274320" y="1234440"/>
            <a:ext cx="2029968" cy="841248"/>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TextBox 136"/>
          <p:cNvSpPr txBox="1"/>
          <p:nvPr/>
        </p:nvSpPr>
        <p:spPr>
          <a:xfrm>
            <a:off x="365760" y="1261872"/>
            <a:ext cx="1847088" cy="786384"/>
          </a:xfrm>
          <a:prstGeom prst="rect">
            <a:avLst/>
          </a:prstGeom>
          <a:noFill/>
        </p:spPr>
        <p:txBody>
          <a:bodyPr wrap="square" anchor="ctr" lIns="18288" rIns="18288" tIns="18288" bIns="18288">
            <a:spAutoFit/>
          </a:bodyPr>
          <a:lstStyle/>
          <a:p>
            <a:pPr algn="ctr"/>
            <a:r>
              <a:rPr sz="2000" b="1" i="0">
                <a:solidFill>
                  <a:srgbClr val="1F3A7A"/>
                </a:solidFill>
                <a:latin typeface="Google Sans Flex"/>
              </a:rPr>
              <a:t>176 / 176</a:t>
            </a:r>
          </a:p>
          <a:p>
            <a:pPr algn="ctr"/>
            <a:r>
              <a:rPr sz="800" b="0" i="0">
                <a:solidFill>
                  <a:srgbClr val="5F6368"/>
                </a:solidFill>
                <a:latin typeface="Google Sans Flex"/>
              </a:rPr>
              <a:t>automated tests pass</a:t>
            </a:r>
          </a:p>
        </p:txBody>
      </p:sp>
      <p:sp>
        <p:nvSpPr>
          <p:cNvPr id="138" name="Rounded Rectangle 137"/>
          <p:cNvSpPr/>
          <p:nvPr/>
        </p:nvSpPr>
        <p:spPr>
          <a:xfrm>
            <a:off x="2441448" y="1234440"/>
            <a:ext cx="2029968" cy="841248"/>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TextBox 138"/>
          <p:cNvSpPr txBox="1"/>
          <p:nvPr/>
        </p:nvSpPr>
        <p:spPr>
          <a:xfrm>
            <a:off x="2532888" y="1261872"/>
            <a:ext cx="1847088" cy="786384"/>
          </a:xfrm>
          <a:prstGeom prst="rect">
            <a:avLst/>
          </a:prstGeom>
          <a:noFill/>
        </p:spPr>
        <p:txBody>
          <a:bodyPr wrap="square" anchor="ctr" lIns="18288" rIns="18288" tIns="18288" bIns="18288">
            <a:spAutoFit/>
          </a:bodyPr>
          <a:lstStyle/>
          <a:p>
            <a:pPr algn="ctr"/>
            <a:r>
              <a:rPr sz="2000" b="1" i="0">
                <a:solidFill>
                  <a:srgbClr val="1F3A7A"/>
                </a:solidFill>
                <a:latin typeface="Google Sans Flex"/>
              </a:rPr>
              <a:t>22 / 22</a:t>
            </a:r>
          </a:p>
          <a:p>
            <a:pPr algn="ctr"/>
            <a:r>
              <a:rPr sz="800" b="0" i="0">
                <a:solidFill>
                  <a:srgbClr val="5F6368"/>
                </a:solidFill>
                <a:latin typeface="Google Sans Flex"/>
              </a:rPr>
              <a:t>end-to-end checks on the live app</a:t>
            </a:r>
          </a:p>
        </p:txBody>
      </p:sp>
      <p:sp>
        <p:nvSpPr>
          <p:cNvPr id="140" name="Rounded Rectangle 139"/>
          <p:cNvSpPr/>
          <p:nvPr/>
        </p:nvSpPr>
        <p:spPr>
          <a:xfrm>
            <a:off x="4608576" y="1234440"/>
            <a:ext cx="2029968" cy="841248"/>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TextBox 140"/>
          <p:cNvSpPr txBox="1"/>
          <p:nvPr/>
        </p:nvSpPr>
        <p:spPr>
          <a:xfrm>
            <a:off x="4700016" y="1261872"/>
            <a:ext cx="1847088" cy="786384"/>
          </a:xfrm>
          <a:prstGeom prst="rect">
            <a:avLst/>
          </a:prstGeom>
          <a:noFill/>
        </p:spPr>
        <p:txBody>
          <a:bodyPr wrap="square" anchor="ctr" lIns="18288" rIns="18288" tIns="18288" bIns="18288">
            <a:spAutoFit/>
          </a:bodyPr>
          <a:lstStyle/>
          <a:p>
            <a:pPr algn="ctr"/>
            <a:r>
              <a:rPr sz="2000" b="1" i="0">
                <a:solidFill>
                  <a:srgbClr val="1F3A7A"/>
                </a:solidFill>
                <a:latin typeface="Google Sans Flex"/>
              </a:rPr>
              <a:t>≈ 2 s</a:t>
            </a:r>
          </a:p>
          <a:p>
            <a:pPr algn="ctr"/>
            <a:r>
              <a:rPr sz="800" b="0" i="0">
                <a:solidFill>
                  <a:srgbClr val="5F6368"/>
                </a:solidFill>
                <a:latin typeface="Google Sans Flex"/>
              </a:rPr>
              <a:t>Moti asks after the expert pauses</a:t>
            </a:r>
          </a:p>
        </p:txBody>
      </p:sp>
      <p:sp>
        <p:nvSpPr>
          <p:cNvPr id="142" name="Rounded Rectangle 141"/>
          <p:cNvSpPr/>
          <p:nvPr/>
        </p:nvSpPr>
        <p:spPr>
          <a:xfrm>
            <a:off x="6775704" y="1234440"/>
            <a:ext cx="2029968" cy="841248"/>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TextBox 142"/>
          <p:cNvSpPr txBox="1"/>
          <p:nvPr/>
        </p:nvSpPr>
        <p:spPr>
          <a:xfrm>
            <a:off x="6867144" y="1261872"/>
            <a:ext cx="1847088" cy="786384"/>
          </a:xfrm>
          <a:prstGeom prst="rect">
            <a:avLst/>
          </a:prstGeom>
          <a:noFill/>
        </p:spPr>
        <p:txBody>
          <a:bodyPr wrap="square" anchor="ctr" lIns="18288" rIns="18288" tIns="18288" bIns="18288">
            <a:spAutoFit/>
          </a:bodyPr>
          <a:lstStyle/>
          <a:p>
            <a:pPr algn="ctr"/>
            <a:r>
              <a:rPr sz="2000" b="1" i="0">
                <a:solidFill>
                  <a:srgbClr val="1F3A7A"/>
                </a:solidFill>
                <a:latin typeface="Google Sans Flex"/>
              </a:rPr>
              <a:t>≈ 1.6 s</a:t>
            </a:r>
          </a:p>
          <a:p>
            <a:pPr algn="ctr"/>
            <a:r>
              <a:rPr sz="800" b="0" i="0">
                <a:solidFill>
                  <a:srgbClr val="5F6368"/>
                </a:solidFill>
                <a:latin typeface="Google Sans Flex"/>
              </a:rPr>
              <a:t>tutor stops a wrong decision</a:t>
            </a:r>
          </a:p>
        </p:txBody>
      </p:sp>
      <p:sp>
        <p:nvSpPr>
          <p:cNvPr id="144" name="Rounded Rectangle 143"/>
          <p:cNvSpPr/>
          <p:nvPr/>
        </p:nvSpPr>
        <p:spPr>
          <a:xfrm>
            <a:off x="274320" y="2212848"/>
            <a:ext cx="4023360" cy="2560320"/>
          </a:xfrm>
          <a:prstGeom prst="roundRect">
            <a:avLst>
              <a:gd name="adj" fmla="val 8000"/>
            </a:avLst>
          </a:prstGeom>
          <a:solidFill>
            <a:srgbClr val="FFFFFF"/>
          </a:solidFill>
          <a:ln w="9525">
            <a:solidFill>
              <a:srgbClr val="E2D9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Box 144"/>
          <p:cNvSpPr txBox="1"/>
          <p:nvPr/>
        </p:nvSpPr>
        <p:spPr>
          <a:xfrm>
            <a:off x="411480" y="2267712"/>
            <a:ext cx="3749039" cy="457200"/>
          </a:xfrm>
          <a:prstGeom prst="rect">
            <a:avLst/>
          </a:prstGeom>
          <a:noFill/>
        </p:spPr>
        <p:txBody>
          <a:bodyPr wrap="square" anchor="t" lIns="18288" rIns="18288" tIns="18288" bIns="18288">
            <a:spAutoFit/>
          </a:bodyPr>
          <a:lstStyle/>
          <a:p>
            <a:pPr algn="l"/>
            <a:r>
              <a:rPr sz="1000" b="1" i="0">
                <a:solidFill>
                  <a:srgbClr val="1A1A1A"/>
                </a:solidFill>
                <a:latin typeface="Google Sans Flex"/>
              </a:rPr>
              <a:t>Work Maps on 25 real recipes (YouCook2, 212 steps)</a:t>
            </a:r>
          </a:p>
        </p:txBody>
      </p:sp>
      <p:sp>
        <p:nvSpPr>
          <p:cNvPr id="146" name="TextBox 145"/>
          <p:cNvSpPr txBox="1"/>
          <p:nvPr/>
        </p:nvSpPr>
        <p:spPr>
          <a:xfrm>
            <a:off x="411480" y="2651760"/>
            <a:ext cx="1188720" cy="685800"/>
          </a:xfrm>
          <a:prstGeom prst="rect">
            <a:avLst/>
          </a:prstGeom>
          <a:noFill/>
        </p:spPr>
        <p:txBody>
          <a:bodyPr wrap="square" anchor="t" lIns="18288" rIns="18288" tIns="18288" bIns="18288">
            <a:spAutoFit/>
          </a:bodyPr>
          <a:lstStyle/>
          <a:p>
            <a:pPr algn="ctr"/>
            <a:r>
              <a:rPr sz="2200" b="1" i="0">
                <a:solidFill>
                  <a:srgbClr val="1E7A4C"/>
                </a:solidFill>
                <a:latin typeface="Google Sans Flex"/>
              </a:rPr>
              <a:t>100%</a:t>
            </a:r>
          </a:p>
          <a:p>
            <a:pPr algn="ctr"/>
            <a:r>
              <a:rPr sz="800" b="0" i="0">
                <a:solidFill>
                  <a:srgbClr val="5F6368"/>
                </a:solidFill>
                <a:latin typeface="Google Sans Flex"/>
              </a:rPr>
              <a:t>steps covered</a:t>
            </a:r>
          </a:p>
        </p:txBody>
      </p:sp>
      <p:sp>
        <p:nvSpPr>
          <p:cNvPr id="147" name="TextBox 146"/>
          <p:cNvSpPr txBox="1"/>
          <p:nvPr/>
        </p:nvSpPr>
        <p:spPr>
          <a:xfrm>
            <a:off x="1691639" y="2651760"/>
            <a:ext cx="1188720" cy="685800"/>
          </a:xfrm>
          <a:prstGeom prst="rect">
            <a:avLst/>
          </a:prstGeom>
          <a:noFill/>
        </p:spPr>
        <p:txBody>
          <a:bodyPr wrap="square" anchor="t" lIns="18288" rIns="18288" tIns="18288" bIns="18288">
            <a:spAutoFit/>
          </a:bodyPr>
          <a:lstStyle/>
          <a:p>
            <a:pPr algn="ctr"/>
            <a:r>
              <a:rPr sz="2200" b="1" i="0">
                <a:solidFill>
                  <a:srgbClr val="1E7A4C"/>
                </a:solidFill>
                <a:latin typeface="Google Sans Flex"/>
              </a:rPr>
              <a:t>0%</a:t>
            </a:r>
          </a:p>
          <a:p>
            <a:pPr algn="ctr"/>
            <a:r>
              <a:rPr sz="800" b="0" i="0">
                <a:solidFill>
                  <a:srgbClr val="5F6368"/>
                </a:solidFill>
                <a:latin typeface="Google Sans Flex"/>
              </a:rPr>
              <a:t>invented evidence</a:t>
            </a:r>
          </a:p>
        </p:txBody>
      </p:sp>
      <p:sp>
        <p:nvSpPr>
          <p:cNvPr id="148" name="TextBox 147"/>
          <p:cNvSpPr txBox="1"/>
          <p:nvPr/>
        </p:nvSpPr>
        <p:spPr>
          <a:xfrm>
            <a:off x="2971800" y="2651760"/>
            <a:ext cx="1188720" cy="685800"/>
          </a:xfrm>
          <a:prstGeom prst="rect">
            <a:avLst/>
          </a:prstGeom>
          <a:noFill/>
        </p:spPr>
        <p:txBody>
          <a:bodyPr wrap="square" anchor="t" lIns="18288" rIns="18288" tIns="18288" bIns="18288">
            <a:spAutoFit/>
          </a:bodyPr>
          <a:lstStyle/>
          <a:p>
            <a:pPr algn="ctr"/>
            <a:r>
              <a:rPr sz="2200" b="1" i="0">
                <a:solidFill>
                  <a:srgbClr val="1E7A4C"/>
                </a:solidFill>
                <a:latin typeface="Google Sans Flex"/>
              </a:rPr>
              <a:t>100%</a:t>
            </a:r>
          </a:p>
          <a:p>
            <a:pPr algn="ctr"/>
            <a:r>
              <a:rPr sz="800" b="0" i="0">
                <a:solidFill>
                  <a:srgbClr val="5F6368"/>
                </a:solidFill>
                <a:latin typeface="Google Sans Flex"/>
              </a:rPr>
              <a:t>steps in order</a:t>
            </a:r>
          </a:p>
        </p:txBody>
      </p:sp>
      <p:sp>
        <p:nvSpPr>
          <p:cNvPr id="149" name="TextBox 148"/>
          <p:cNvSpPr txBox="1"/>
          <p:nvPr/>
        </p:nvSpPr>
        <p:spPr>
          <a:xfrm>
            <a:off x="411480" y="3429000"/>
            <a:ext cx="3749039" cy="1280160"/>
          </a:xfrm>
          <a:prstGeom prst="rect">
            <a:avLst/>
          </a:prstGeom>
          <a:noFill/>
        </p:spPr>
        <p:txBody>
          <a:bodyPr wrap="square" anchor="t" lIns="18288" rIns="18288" tIns="18288" bIns="18288">
            <a:spAutoFit/>
          </a:bodyPr>
          <a:lstStyle/>
          <a:p>
            <a:pPr algn="l">
              <a:spcAft>
                <a:spcPts val="400"/>
              </a:spcAft>
            </a:pPr>
            <a:r>
              <a:rPr sz="900" b="1" i="0">
                <a:solidFill>
                  <a:srgbClr val="1A1A1A"/>
                </a:solidFill>
                <a:latin typeface="Google Sans Flex"/>
              </a:rPr>
              <a:t>Quotes the expert didn't say: </a:t>
            </a:r>
            <a:r>
              <a:rPr sz="900" b="0" i="0">
                <a:solidFill>
                  <a:srgbClr val="5F6368"/>
                </a:solidFill>
                <a:latin typeface="Google Sans Flex"/>
              </a:rPr>
              <a:t>silent videos 1 claimed → 0 verified; narrated 3 → 3. Unspoken quotes are labelled AI-inferred, every time.</a:t>
            </a:r>
          </a:p>
          <a:p>
            <a:pPr algn="l">
              <a:spcAft>
                <a:spcPts val="400"/>
              </a:spcAft>
            </a:pPr>
            <a:r>
              <a:rPr sz="900" b="1" i="0">
                <a:solidFill>
                  <a:srgbClr val="1A1A1A"/>
                </a:solidFill>
                <a:latin typeface="Google Sans Flex"/>
              </a:rPr>
              <a:t>Cost: </a:t>
            </a:r>
            <a:r>
              <a:rPr sz="900" b="0" i="0">
                <a:solidFill>
                  <a:srgbClr val="5F6368"/>
                </a:solidFill>
                <a:latin typeface="Google Sans Flex"/>
              </a:rPr>
              <a:t>50 Gemini calls, $0.23.</a:t>
            </a:r>
          </a:p>
          <a:p>
            <a:pPr algn="l">
              <a:spcAft>
                <a:spcPts val="400"/>
              </a:spcAft>
            </a:pPr>
            <a:r>
              <a:rPr sz="900" b="1" i="0">
                <a:solidFill>
                  <a:srgbClr val="1A1A1A"/>
                </a:solidFill>
                <a:latin typeface="Google Sans Flex"/>
              </a:rPr>
              <a:t>Guardian agent on Agent Engine: </a:t>
            </a:r>
            <a:r>
              <a:rPr sz="900" b="0" i="0">
                <a:solidFill>
                  <a:srgbClr val="5F6368"/>
                </a:solidFill>
                <a:latin typeface="Google Sans Flex"/>
              </a:rPr>
              <a:t>returned STOP for ₹88,000 and ₹64,500 postings over the expert's limit (live test).</a:t>
            </a:r>
          </a:p>
        </p:txBody>
      </p:sp>
      <p:graphicFrame>
        <p:nvGraphicFramePr>
          <p:cNvPr id="150" name="Chart 149"/>
          <p:cNvGraphicFramePr>
            <a:graphicFrameLocks noGrp="1"/>
          </p:cNvGraphicFramePr>
          <p:nvPr/>
        </p:nvGraphicFramePr>
        <p:xfrm>
          <a:off x="4480560" y="2468880"/>
          <a:ext cx="4389120" cy="2057400"/>
        </p:xfrm>
        <a:graphic>
          <a:graphicData uri="http://schemas.openxmlformats.org/drawingml/2006/chart">
            <c:chart r:id="rId5"/>
          </a:graphicData>
        </a:graphic>
      </p:graphicFrame>
      <p:sp>
        <p:nvSpPr>
          <p:cNvPr id="151" name="TextBox 150"/>
          <p:cNvSpPr txBox="1"/>
          <p:nvPr/>
        </p:nvSpPr>
        <p:spPr>
          <a:xfrm>
            <a:off x="4480560" y="2212848"/>
            <a:ext cx="4389120" cy="274320"/>
          </a:xfrm>
          <a:prstGeom prst="rect">
            <a:avLst/>
          </a:prstGeom>
          <a:noFill/>
        </p:spPr>
        <p:txBody>
          <a:bodyPr wrap="square" anchor="t" lIns="18288" rIns="18288" tIns="18288" bIns="18288">
            <a:spAutoFit/>
          </a:bodyPr>
          <a:lstStyle/>
          <a:p>
            <a:pPr algn="l"/>
            <a:r>
              <a:rPr sz="1000" b="1" i="0">
                <a:solidFill>
                  <a:srgbClr val="1A1A1A"/>
                </a:solidFill>
                <a:latin typeface="Google Sans Flex"/>
              </a:rPr>
              <a:t>Personal data masked before storage</a:t>
            </a:r>
          </a:p>
        </p:txBody>
      </p:sp>
      <p:sp>
        <p:nvSpPr>
          <p:cNvPr id="152" name="TextBox 151"/>
          <p:cNvSpPr txBox="1"/>
          <p:nvPr/>
        </p:nvSpPr>
        <p:spPr>
          <a:xfrm>
            <a:off x="4480560" y="4507992"/>
            <a:ext cx="4389120" cy="274320"/>
          </a:xfrm>
          <a:prstGeom prst="rect">
            <a:avLst/>
          </a:prstGeom>
          <a:noFill/>
        </p:spPr>
        <p:txBody>
          <a:bodyPr wrap="square" anchor="t" lIns="18288" rIns="18288" tIns="18288" bIns="18288">
            <a:spAutoFit/>
          </a:bodyPr>
          <a:lstStyle/>
          <a:p>
            <a:pPr algn="l"/>
            <a:r>
              <a:rPr sz="750" b="0" i="0">
                <a:solidFill>
                  <a:srgbClr val="5F6368"/>
                </a:solidFill>
                <a:latin typeface="Google Sans Flex"/>
              </a:rPr>
              <a:t>ai4privacy, 43,501 sentences. Amounts and dates: 0% changed.</a:t>
            </a:r>
          </a:p>
        </p:txBody>
      </p:sp>
      <p:sp>
        <p:nvSpPr>
          <p:cNvPr id="153" name="TextBox 152"/>
          <p:cNvSpPr txBox="1"/>
          <p:nvPr/>
        </p:nvSpPr>
        <p:spPr>
          <a:xfrm>
            <a:off x="274320" y="4818888"/>
            <a:ext cx="8595360" cy="237744"/>
          </a:xfrm>
          <a:prstGeom prst="rect">
            <a:avLst/>
          </a:prstGeom>
          <a:noFill/>
        </p:spPr>
        <p:txBody>
          <a:bodyPr wrap="square" anchor="t" lIns="18288" rIns="18288" tIns="18288" bIns="18288">
            <a:spAutoFit/>
          </a:bodyPr>
          <a:lstStyle/>
          <a:p>
            <a:pPr algn="l"/>
            <a:r>
              <a:rPr sz="700" b="0" i="0">
                <a:solidFill>
                  <a:srgbClr val="5F6368"/>
                </a:solidFill>
                <a:latin typeface="Google Sans Flex"/>
              </a:rPr>
              <a:t>All figures measured by the team (see docs/EVALUATION.md). Latencies are from a small number of live sessions. Also tested on iPhone.</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
        <p:nvSpPr>
          <p:cNvPr id="144" name="Rounded Rectangle 143"/>
          <p:cNvSpPr/>
          <p:nvPr/>
        </p:nvSpPr>
        <p:spPr>
          <a:xfrm>
            <a:off x="274320" y="1234440"/>
            <a:ext cx="2743200" cy="384048"/>
          </a:xfrm>
          <a:prstGeom prst="roundRect">
            <a:avLst>
              <a:gd name="adj" fmla="val 8000"/>
            </a:avLst>
          </a:prstGeom>
          <a:solidFill>
            <a:srgbClr val="B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Box 144"/>
          <p:cNvSpPr txBox="1"/>
          <p:nvPr/>
        </p:nvSpPr>
        <p:spPr>
          <a:xfrm>
            <a:off x="274320" y="1234440"/>
            <a:ext cx="2743200" cy="384048"/>
          </a:xfrm>
          <a:prstGeom prst="rect">
            <a:avLst/>
          </a:prstGeom>
          <a:noFill/>
        </p:spPr>
        <p:txBody>
          <a:bodyPr wrap="square" anchor="ctr" lIns="18288" rIns="18288" tIns="18288" bIns="18288">
            <a:spAutoFit/>
          </a:bodyPr>
          <a:lstStyle/>
          <a:p>
            <a:pPr algn="ctr"/>
            <a:r>
              <a:rPr sz="1100" b="1" i="0">
                <a:solidFill>
                  <a:srgbClr val="FFFFFF"/>
                </a:solidFill>
                <a:latin typeface="Google Sans Flex"/>
              </a:rPr>
              <a:t>Next 3 months</a:t>
            </a:r>
          </a:p>
        </p:txBody>
      </p:sp>
      <p:sp>
        <p:nvSpPr>
          <p:cNvPr id="146" name="Rounded Rectangle 145"/>
          <p:cNvSpPr/>
          <p:nvPr/>
        </p:nvSpPr>
        <p:spPr>
          <a:xfrm>
            <a:off x="274320" y="1719072"/>
            <a:ext cx="2743200" cy="493776"/>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TextBox 146"/>
          <p:cNvSpPr txBox="1"/>
          <p:nvPr/>
        </p:nvSpPr>
        <p:spPr>
          <a:xfrm>
            <a:off x="384048" y="1737360"/>
            <a:ext cx="2560320" cy="457200"/>
          </a:xfrm>
          <a:prstGeom prst="rect">
            <a:avLst/>
          </a:prstGeom>
          <a:noFill/>
        </p:spPr>
        <p:txBody>
          <a:bodyPr wrap="square" anchor="ctr" lIns="18288" rIns="18288" tIns="18288" bIns="18288">
            <a:spAutoFit/>
          </a:bodyPr>
          <a:lstStyle/>
          <a:p>
            <a:pPr algn="l"/>
            <a:r>
              <a:rPr sz="900" b="0" i="0">
                <a:solidFill>
                  <a:srgbClr val="1A1A1A"/>
                </a:solidFill>
                <a:latin typeface="Google Sans Flex"/>
              </a:rPr>
              <a:t>Two experts on one map: where they agree, differ, and why</a:t>
            </a:r>
          </a:p>
        </p:txBody>
      </p:sp>
      <p:sp>
        <p:nvSpPr>
          <p:cNvPr id="148" name="Rounded Rectangle 147"/>
          <p:cNvSpPr/>
          <p:nvPr/>
        </p:nvSpPr>
        <p:spPr>
          <a:xfrm>
            <a:off x="274320" y="2286000"/>
            <a:ext cx="2743200" cy="493776"/>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TextBox 148"/>
          <p:cNvSpPr txBox="1"/>
          <p:nvPr/>
        </p:nvSpPr>
        <p:spPr>
          <a:xfrm>
            <a:off x="384048" y="2304288"/>
            <a:ext cx="2560320" cy="457200"/>
          </a:xfrm>
          <a:prstGeom prst="rect">
            <a:avLst/>
          </a:prstGeom>
          <a:noFill/>
        </p:spPr>
        <p:txBody>
          <a:bodyPr wrap="square" anchor="ctr" lIns="18288" rIns="18288" tIns="18288" bIns="18288">
            <a:spAutoFit/>
          </a:bodyPr>
          <a:lstStyle/>
          <a:p>
            <a:pPr algn="l"/>
            <a:r>
              <a:rPr sz="900" b="0" i="0">
                <a:solidFill>
                  <a:srgbClr val="1A1A1A"/>
                </a:solidFill>
                <a:latin typeface="Google Sans Flex"/>
              </a:rPr>
              <a:t>Native-speaker review of all 15 narration languages</a:t>
            </a:r>
          </a:p>
        </p:txBody>
      </p:sp>
      <p:sp>
        <p:nvSpPr>
          <p:cNvPr id="150" name="Rounded Rectangle 149"/>
          <p:cNvSpPr/>
          <p:nvPr/>
        </p:nvSpPr>
        <p:spPr>
          <a:xfrm>
            <a:off x="274320" y="2852928"/>
            <a:ext cx="2743200" cy="493776"/>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TextBox 150"/>
          <p:cNvSpPr txBox="1"/>
          <p:nvPr/>
        </p:nvSpPr>
        <p:spPr>
          <a:xfrm>
            <a:off x="384048" y="2871215"/>
            <a:ext cx="2560320" cy="457200"/>
          </a:xfrm>
          <a:prstGeom prst="rect">
            <a:avLst/>
          </a:prstGeom>
          <a:noFill/>
        </p:spPr>
        <p:txBody>
          <a:bodyPr wrap="square" anchor="ctr" lIns="18288" rIns="18288" tIns="18288" bIns="18288">
            <a:spAutoFit/>
          </a:bodyPr>
          <a:lstStyle/>
          <a:p>
            <a:pPr algn="l"/>
            <a:r>
              <a:rPr sz="900" b="0" i="0">
                <a:solidFill>
                  <a:srgbClr val="1A1A1A"/>
                </a:solidFill>
                <a:latin typeface="Google Sans Flex"/>
              </a:rPr>
              <a:t>Google Workspace sign-in and directory groups</a:t>
            </a:r>
          </a:p>
        </p:txBody>
      </p:sp>
      <p:sp>
        <p:nvSpPr>
          <p:cNvPr id="152" name="Rounded Rectangle 151"/>
          <p:cNvSpPr/>
          <p:nvPr/>
        </p:nvSpPr>
        <p:spPr>
          <a:xfrm>
            <a:off x="3163824" y="1234440"/>
            <a:ext cx="2743200" cy="384048"/>
          </a:xfrm>
          <a:prstGeom prst="roundRect">
            <a:avLst>
              <a:gd name="adj" fmla="val 8000"/>
            </a:avLst>
          </a:prstGeom>
          <a:solidFill>
            <a:srgbClr val="1F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TextBox 152"/>
          <p:cNvSpPr txBox="1"/>
          <p:nvPr/>
        </p:nvSpPr>
        <p:spPr>
          <a:xfrm>
            <a:off x="3163824" y="1234440"/>
            <a:ext cx="2743200" cy="384048"/>
          </a:xfrm>
          <a:prstGeom prst="rect">
            <a:avLst/>
          </a:prstGeom>
          <a:noFill/>
        </p:spPr>
        <p:txBody>
          <a:bodyPr wrap="square" anchor="ctr" lIns="18288" rIns="18288" tIns="18288" bIns="18288">
            <a:spAutoFit/>
          </a:bodyPr>
          <a:lstStyle/>
          <a:p>
            <a:pPr algn="ctr"/>
            <a:r>
              <a:rPr sz="1100" b="1" i="0">
                <a:solidFill>
                  <a:srgbClr val="FFFFFF"/>
                </a:solidFill>
                <a:latin typeface="Google Sans Flex"/>
              </a:rPr>
              <a:t>6 months</a:t>
            </a:r>
          </a:p>
        </p:txBody>
      </p:sp>
      <p:sp>
        <p:nvSpPr>
          <p:cNvPr id="154" name="Rounded Rectangle 153"/>
          <p:cNvSpPr/>
          <p:nvPr/>
        </p:nvSpPr>
        <p:spPr>
          <a:xfrm>
            <a:off x="3163824" y="1719072"/>
            <a:ext cx="2743200" cy="493776"/>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TextBox 154"/>
          <p:cNvSpPr txBox="1"/>
          <p:nvPr/>
        </p:nvSpPr>
        <p:spPr>
          <a:xfrm>
            <a:off x="3273552" y="1737360"/>
            <a:ext cx="2560320" cy="457200"/>
          </a:xfrm>
          <a:prstGeom prst="rect">
            <a:avLst/>
          </a:prstGeom>
          <a:noFill/>
        </p:spPr>
        <p:txBody>
          <a:bodyPr wrap="square" anchor="ctr" lIns="18288" rIns="18288" tIns="18288" bIns="18288">
            <a:spAutoFit/>
          </a:bodyPr>
          <a:lstStyle/>
          <a:p>
            <a:pPr algn="l"/>
            <a:r>
              <a:rPr sz="900" b="0" i="0">
                <a:solidFill>
                  <a:srgbClr val="1A1A1A"/>
                </a:solidFill>
                <a:latin typeface="Google Sans Flex"/>
              </a:rPr>
              <a:t>Export guardrails to agent platforms and RPA tools</a:t>
            </a:r>
          </a:p>
        </p:txBody>
      </p:sp>
      <p:sp>
        <p:nvSpPr>
          <p:cNvPr id="156" name="Rounded Rectangle 155"/>
          <p:cNvSpPr/>
          <p:nvPr/>
        </p:nvSpPr>
        <p:spPr>
          <a:xfrm>
            <a:off x="3163824" y="2286000"/>
            <a:ext cx="2743200" cy="493776"/>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TextBox 156"/>
          <p:cNvSpPr txBox="1"/>
          <p:nvPr/>
        </p:nvSpPr>
        <p:spPr>
          <a:xfrm>
            <a:off x="3273552" y="2304288"/>
            <a:ext cx="2560320" cy="457200"/>
          </a:xfrm>
          <a:prstGeom prst="rect">
            <a:avLst/>
          </a:prstGeom>
          <a:noFill/>
        </p:spPr>
        <p:txBody>
          <a:bodyPr wrap="square" anchor="ctr" lIns="18288" rIns="18288" tIns="18288" bIns="18288">
            <a:spAutoFit/>
          </a:bodyPr>
          <a:lstStyle/>
          <a:p>
            <a:pPr algn="l"/>
            <a:r>
              <a:rPr sz="900" b="0" i="0">
                <a:solidFill>
                  <a:srgbClr val="1A1A1A"/>
                </a:solidFill>
                <a:latin typeface="Google Sans Flex"/>
              </a:rPr>
              <a:t>On-device masking of faces and screens before upload</a:t>
            </a:r>
          </a:p>
        </p:txBody>
      </p:sp>
      <p:sp>
        <p:nvSpPr>
          <p:cNvPr id="158" name="Rounded Rectangle 157"/>
          <p:cNvSpPr/>
          <p:nvPr/>
        </p:nvSpPr>
        <p:spPr>
          <a:xfrm>
            <a:off x="3163824" y="2852928"/>
            <a:ext cx="2743200" cy="493776"/>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TextBox 158"/>
          <p:cNvSpPr txBox="1"/>
          <p:nvPr/>
        </p:nvSpPr>
        <p:spPr>
          <a:xfrm>
            <a:off x="3273552" y="2871215"/>
            <a:ext cx="2560320" cy="457200"/>
          </a:xfrm>
          <a:prstGeom prst="rect">
            <a:avLst/>
          </a:prstGeom>
          <a:noFill/>
        </p:spPr>
        <p:txBody>
          <a:bodyPr wrap="square" anchor="ctr" lIns="18288" rIns="18288" tIns="18288" bIns="18288">
            <a:spAutoFit/>
          </a:bodyPr>
          <a:lstStyle/>
          <a:p>
            <a:pPr algn="l"/>
            <a:r>
              <a:rPr sz="900" b="0" i="0">
                <a:solidFill>
                  <a:srgbClr val="1A1A1A"/>
                </a:solidFill>
                <a:latin typeface="Google Sans Flex"/>
              </a:rPr>
              <a:t>Expert-shift alerts when a confirmed rule changes</a:t>
            </a:r>
          </a:p>
        </p:txBody>
      </p:sp>
      <p:sp>
        <p:nvSpPr>
          <p:cNvPr id="160" name="Rounded Rectangle 159"/>
          <p:cNvSpPr/>
          <p:nvPr/>
        </p:nvSpPr>
        <p:spPr>
          <a:xfrm>
            <a:off x="6053328" y="1234440"/>
            <a:ext cx="2743200" cy="384048"/>
          </a:xfrm>
          <a:prstGeom prst="roundRect">
            <a:avLst>
              <a:gd name="adj" fmla="val 8000"/>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TextBox 160"/>
          <p:cNvSpPr txBox="1"/>
          <p:nvPr/>
        </p:nvSpPr>
        <p:spPr>
          <a:xfrm>
            <a:off x="6053328" y="1234440"/>
            <a:ext cx="2743200" cy="384048"/>
          </a:xfrm>
          <a:prstGeom prst="rect">
            <a:avLst/>
          </a:prstGeom>
          <a:noFill/>
        </p:spPr>
        <p:txBody>
          <a:bodyPr wrap="square" anchor="ctr" lIns="18288" rIns="18288" tIns="18288" bIns="18288">
            <a:spAutoFit/>
          </a:bodyPr>
          <a:lstStyle/>
          <a:p>
            <a:pPr algn="ctr"/>
            <a:r>
              <a:rPr sz="1100" b="1" i="0">
                <a:solidFill>
                  <a:srgbClr val="FFFFFF"/>
                </a:solidFill>
                <a:latin typeface="Google Sans Flex"/>
              </a:rPr>
              <a:t>12 months</a:t>
            </a:r>
          </a:p>
        </p:txBody>
      </p:sp>
      <p:sp>
        <p:nvSpPr>
          <p:cNvPr id="162" name="Rounded Rectangle 161"/>
          <p:cNvSpPr/>
          <p:nvPr/>
        </p:nvSpPr>
        <p:spPr>
          <a:xfrm>
            <a:off x="6053328" y="1719072"/>
            <a:ext cx="2743200" cy="493776"/>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TextBox 162"/>
          <p:cNvSpPr txBox="1"/>
          <p:nvPr/>
        </p:nvSpPr>
        <p:spPr>
          <a:xfrm>
            <a:off x="6163056" y="1737360"/>
            <a:ext cx="2560320" cy="457200"/>
          </a:xfrm>
          <a:prstGeom prst="rect">
            <a:avLst/>
          </a:prstGeom>
          <a:noFill/>
        </p:spPr>
        <p:txBody>
          <a:bodyPr wrap="square" anchor="ctr" lIns="18288" rIns="18288" tIns="18288" bIns="18288">
            <a:spAutoFit/>
          </a:bodyPr>
          <a:lstStyle/>
          <a:p>
            <a:pPr algn="l"/>
            <a:r>
              <a:rPr sz="900" b="0" i="0">
                <a:solidFill>
                  <a:srgbClr val="1A1A1A"/>
                </a:solidFill>
                <a:latin typeface="Google Sans Flex"/>
              </a:rPr>
              <a:t>Culture archive: opt-in community collections of crafts and languages</a:t>
            </a:r>
          </a:p>
        </p:txBody>
      </p:sp>
      <p:sp>
        <p:nvSpPr>
          <p:cNvPr id="164" name="Rounded Rectangle 163"/>
          <p:cNvSpPr/>
          <p:nvPr/>
        </p:nvSpPr>
        <p:spPr>
          <a:xfrm>
            <a:off x="6053328" y="2286000"/>
            <a:ext cx="2743200" cy="493776"/>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TextBox 164"/>
          <p:cNvSpPr txBox="1"/>
          <p:nvPr/>
        </p:nvSpPr>
        <p:spPr>
          <a:xfrm>
            <a:off x="6163056" y="2304288"/>
            <a:ext cx="2560320" cy="457200"/>
          </a:xfrm>
          <a:prstGeom prst="rect">
            <a:avLst/>
          </a:prstGeom>
          <a:noFill/>
        </p:spPr>
        <p:txBody>
          <a:bodyPr wrap="square" anchor="ctr" lIns="18288" rIns="18288" tIns="18288" bIns="18288">
            <a:spAutoFit/>
          </a:bodyPr>
          <a:lstStyle/>
          <a:p>
            <a:pPr algn="l"/>
            <a:r>
              <a:rPr sz="900" b="0" i="0">
                <a:solidFill>
                  <a:srgbClr val="1A1A1A"/>
                </a:solidFill>
                <a:latin typeface="Google Sans Flex"/>
              </a:rPr>
              <a:t>Partnerships with craft associations and language surveys</a:t>
            </a:r>
          </a:p>
        </p:txBody>
      </p:sp>
      <p:sp>
        <p:nvSpPr>
          <p:cNvPr id="166" name="Rounded Rectangle 165"/>
          <p:cNvSpPr/>
          <p:nvPr/>
        </p:nvSpPr>
        <p:spPr>
          <a:xfrm>
            <a:off x="6053328" y="2852928"/>
            <a:ext cx="2743200" cy="493776"/>
          </a:xfrm>
          <a:prstGeom prst="roundRect">
            <a:avLst>
              <a:gd name="adj" fmla="val 15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TextBox 166"/>
          <p:cNvSpPr txBox="1"/>
          <p:nvPr/>
        </p:nvSpPr>
        <p:spPr>
          <a:xfrm>
            <a:off x="6163056" y="2871215"/>
            <a:ext cx="2560320" cy="457200"/>
          </a:xfrm>
          <a:prstGeom prst="rect">
            <a:avLst/>
          </a:prstGeom>
          <a:noFill/>
        </p:spPr>
        <p:txBody>
          <a:bodyPr wrap="square" anchor="ctr" lIns="18288" rIns="18288" tIns="18288" bIns="18288">
            <a:spAutoFit/>
          </a:bodyPr>
          <a:lstStyle/>
          <a:p>
            <a:pPr algn="l"/>
            <a:r>
              <a:rPr sz="900" b="0" i="0">
                <a:solidFill>
                  <a:srgbClr val="1A1A1A"/>
                </a:solidFill>
                <a:latin typeface="Google Sans Flex"/>
              </a:rPr>
              <a:t>Certified practice paths for regulated roles</a:t>
            </a:r>
          </a:p>
        </p:txBody>
      </p:sp>
      <p:sp>
        <p:nvSpPr>
          <p:cNvPr id="168" name="Rounded Rectangle 167"/>
          <p:cNvSpPr/>
          <p:nvPr/>
        </p:nvSpPr>
        <p:spPr>
          <a:xfrm>
            <a:off x="274320" y="3474720"/>
            <a:ext cx="8595360" cy="1234440"/>
          </a:xfrm>
          <a:prstGeom prst="roundRect">
            <a:avLst>
              <a:gd name="adj" fmla="val 8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9" name="Picture 168" descr="landing_art.png"/>
          <p:cNvPicPr>
            <a:picLocks noChangeAspect="1"/>
          </p:cNvPicPr>
          <p:nvPr/>
        </p:nvPicPr>
        <p:blipFill>
          <a:blip r:embed="rId5"/>
          <a:stretch>
            <a:fillRect/>
          </a:stretch>
        </p:blipFill>
        <p:spPr>
          <a:xfrm>
            <a:off x="427146" y="3566160"/>
            <a:ext cx="1706027" cy="1051560"/>
          </a:xfrm>
          <a:prstGeom prst="rect">
            <a:avLst/>
          </a:prstGeom>
        </p:spPr>
      </p:pic>
      <p:sp>
        <p:nvSpPr>
          <p:cNvPr id="170" name="TextBox 169"/>
          <p:cNvSpPr txBox="1"/>
          <p:nvPr/>
        </p:nvSpPr>
        <p:spPr>
          <a:xfrm>
            <a:off x="2377440" y="3566160"/>
            <a:ext cx="6400800" cy="1051560"/>
          </a:xfrm>
          <a:prstGeom prst="rect">
            <a:avLst/>
          </a:prstGeom>
          <a:noFill/>
        </p:spPr>
        <p:txBody>
          <a:bodyPr wrap="square" anchor="t" lIns="18288" rIns="18288" tIns="18288" bIns="18288">
            <a:spAutoFit/>
          </a:bodyPr>
          <a:lstStyle/>
          <a:p>
            <a:pPr algn="l">
              <a:spcAft>
                <a:spcPts val="400"/>
              </a:spcAft>
            </a:pPr>
            <a:r>
              <a:rPr sz="1200" b="1" i="0">
                <a:solidFill>
                  <a:srgbClr val="B8860B"/>
                </a:solidFill>
                <a:latin typeface="Google Sans Flex"/>
              </a:rPr>
              <a:t>Our Inspiration</a:t>
            </a:r>
          </a:p>
          <a:p>
            <a:pPr algn="l">
              <a:spcAft>
                <a:spcPts val="400"/>
              </a:spcAft>
            </a:pPr>
            <a:r>
              <a:rPr sz="950" b="0" i="0">
                <a:solidFill>
                  <a:srgbClr val="FFFFFF"/>
                </a:solidFill>
                <a:latin typeface="Google Sans Flex"/>
              </a:rPr>
              <a:t>The app has a story page: Bengal muslin, Majhi, Japan's craft families, and the expert at your desk, with sources. The same loop that keeps an invoice rule can keep a weaver's reason.</a:t>
            </a:r>
          </a:p>
          <a:p>
            <a:pPr algn="l">
              <a:spcAft>
                <a:spcPts val="400"/>
              </a:spcAft>
            </a:pPr>
            <a:r>
              <a:rPr sz="900" b="0" i="0">
                <a:solidFill>
                  <a:srgbClr val="CCCCCC"/>
                </a:solidFill>
                <a:latin typeface="Google Sans Flex"/>
              </a:rPr>
              <a:t>agamya-82538920788.us-central1.run.app/#/inspiration</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5778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p:txBody>
      </p:sp>
      <p:sp>
        <p:nvSpPr>
          <p:cNvPr id="152" name="Rounded Rectangle 151"/>
          <p:cNvSpPr/>
          <p:nvPr/>
        </p:nvSpPr>
        <p:spPr>
          <a:xfrm>
            <a:off x="274320" y="1325880"/>
            <a:ext cx="5486400" cy="548640"/>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ectangle 152"/>
          <p:cNvSpPr/>
          <p:nvPr/>
        </p:nvSpPr>
        <p:spPr>
          <a:xfrm>
            <a:off x="274320" y="1325880"/>
            <a:ext cx="73152" cy="54864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TextBox 153"/>
          <p:cNvSpPr txBox="1"/>
          <p:nvPr/>
        </p:nvSpPr>
        <p:spPr>
          <a:xfrm>
            <a:off x="502920" y="1353312"/>
            <a:ext cx="5212080" cy="493776"/>
          </a:xfrm>
          <a:prstGeom prst="rect">
            <a:avLst/>
          </a:prstGeom>
          <a:noFill/>
        </p:spPr>
        <p:txBody>
          <a:bodyPr wrap="square" anchor="ctr" lIns="18288" rIns="18288" tIns="18288" bIns="18288">
            <a:spAutoFit/>
          </a:bodyPr>
          <a:lstStyle/>
          <a:p>
            <a:pPr algn="l"/>
            <a:r>
              <a:rPr sz="1050" b="1" i="0">
                <a:solidFill>
                  <a:srgbClr val="1A1A1A"/>
                </a:solidFill>
                <a:latin typeface="Google Sans Flex"/>
              </a:rPr>
              <a:t>GitHub Public Repository</a:t>
            </a:r>
          </a:p>
          <a:p>
            <a:pPr algn="l"/>
            <a:r>
              <a:rPr sz="1000" b="0" i="0">
                <a:solidFill>
                  <a:srgbClr val="1A1A1A"/>
                </a:solidFill>
                <a:latin typeface="Google Sans Flex"/>
                <a:hlinkClick r:id="rId5"/>
              </a:rPr>
              <a:t>github.com/S-D-P/Agamya-AI-Builder-Cup-26</a:t>
            </a:r>
          </a:p>
        </p:txBody>
      </p:sp>
      <p:sp>
        <p:nvSpPr>
          <p:cNvPr id="155" name="Rounded Rectangle 154"/>
          <p:cNvSpPr/>
          <p:nvPr/>
        </p:nvSpPr>
        <p:spPr>
          <a:xfrm>
            <a:off x="274320" y="1965960"/>
            <a:ext cx="5486400" cy="548640"/>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Rectangle 155"/>
          <p:cNvSpPr/>
          <p:nvPr/>
        </p:nvSpPr>
        <p:spPr>
          <a:xfrm>
            <a:off x="274320" y="1965960"/>
            <a:ext cx="73152" cy="548640"/>
          </a:xfrm>
          <a:prstGeom prst="rect">
            <a:avLst/>
          </a:prstGeom>
          <a:solidFill>
            <a:srgbClr val="B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TextBox 156"/>
          <p:cNvSpPr txBox="1"/>
          <p:nvPr/>
        </p:nvSpPr>
        <p:spPr>
          <a:xfrm>
            <a:off x="502920" y="1993391"/>
            <a:ext cx="5212080" cy="493776"/>
          </a:xfrm>
          <a:prstGeom prst="rect">
            <a:avLst/>
          </a:prstGeom>
          <a:noFill/>
        </p:spPr>
        <p:txBody>
          <a:bodyPr wrap="square" anchor="ctr" lIns="18288" rIns="18288" tIns="18288" bIns="18288">
            <a:spAutoFit/>
          </a:bodyPr>
          <a:lstStyle/>
          <a:p>
            <a:pPr algn="l"/>
            <a:r>
              <a:rPr sz="1050" b="1" i="0">
                <a:solidFill>
                  <a:srgbClr val="1A1A1A"/>
                </a:solidFill>
                <a:latin typeface="Google Sans Flex"/>
              </a:rPr>
              <a:t>Demo Video Link (3 Minutes)</a:t>
            </a:r>
          </a:p>
          <a:p>
            <a:pPr algn="l"/>
            <a:r>
              <a:rPr sz="1000" b="0" i="0">
                <a:solidFill>
                  <a:srgbClr val="B31B2E"/>
                </a:solidFill>
                <a:latin typeface="Google Sans Flex"/>
              </a:rPr>
              <a:t>ADD YOUTUBE LINK</a:t>
            </a:r>
          </a:p>
        </p:txBody>
      </p:sp>
      <p:sp>
        <p:nvSpPr>
          <p:cNvPr id="158" name="Rounded Rectangle 157"/>
          <p:cNvSpPr/>
          <p:nvPr/>
        </p:nvSpPr>
        <p:spPr>
          <a:xfrm>
            <a:off x="274320" y="2606039"/>
            <a:ext cx="5486400" cy="548640"/>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ectangle 158"/>
          <p:cNvSpPr/>
          <p:nvPr/>
        </p:nvSpPr>
        <p:spPr>
          <a:xfrm>
            <a:off x="274320" y="2606039"/>
            <a:ext cx="73152" cy="548640"/>
          </a:xfrm>
          <a:prstGeom prst="rect">
            <a:avLst/>
          </a:prstGeom>
          <a:solidFill>
            <a:srgbClr val="B3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TextBox 159"/>
          <p:cNvSpPr txBox="1"/>
          <p:nvPr/>
        </p:nvSpPr>
        <p:spPr>
          <a:xfrm>
            <a:off x="502920" y="2633471"/>
            <a:ext cx="5212080" cy="493776"/>
          </a:xfrm>
          <a:prstGeom prst="rect">
            <a:avLst/>
          </a:prstGeom>
          <a:noFill/>
        </p:spPr>
        <p:txBody>
          <a:bodyPr wrap="square" anchor="ctr" lIns="18288" rIns="18288" tIns="18288" bIns="18288">
            <a:spAutoFit/>
          </a:bodyPr>
          <a:lstStyle/>
          <a:p>
            <a:pPr algn="l"/>
            <a:r>
              <a:rPr sz="1050" b="1" i="0">
                <a:solidFill>
                  <a:srgbClr val="1A1A1A"/>
                </a:solidFill>
                <a:latin typeface="Google Sans Flex"/>
              </a:rPr>
              <a:t>Work demo video (a JMeter handover, kept separate for the time limit)</a:t>
            </a:r>
          </a:p>
          <a:p>
            <a:pPr algn="l"/>
            <a:r>
              <a:rPr sz="1000" b="0" i="0">
                <a:solidFill>
                  <a:srgbClr val="B31B2E"/>
                </a:solidFill>
                <a:latin typeface="Google Sans Flex"/>
              </a:rPr>
              <a:t>ADD YOUTUBE LINK</a:t>
            </a:r>
          </a:p>
        </p:txBody>
      </p:sp>
      <p:sp>
        <p:nvSpPr>
          <p:cNvPr id="161" name="Rounded Rectangle 160"/>
          <p:cNvSpPr/>
          <p:nvPr/>
        </p:nvSpPr>
        <p:spPr>
          <a:xfrm>
            <a:off x="274320" y="3246120"/>
            <a:ext cx="5486400" cy="548640"/>
          </a:xfrm>
          <a:prstGeom prst="roundRect">
            <a:avLst>
              <a:gd name="adj" fmla="val 8000"/>
            </a:avLst>
          </a:prstGeom>
          <a:solidFill>
            <a:srgbClr val="F6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ectangle 161"/>
          <p:cNvSpPr/>
          <p:nvPr/>
        </p:nvSpPr>
        <p:spPr>
          <a:xfrm>
            <a:off x="274320" y="3246120"/>
            <a:ext cx="73152" cy="548640"/>
          </a:xfrm>
          <a:prstGeom prst="rect">
            <a:avLst/>
          </a:prstGeom>
          <a:solidFill>
            <a:srgbClr val="1F3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TextBox 162"/>
          <p:cNvSpPr txBox="1"/>
          <p:nvPr/>
        </p:nvSpPr>
        <p:spPr>
          <a:xfrm>
            <a:off x="502920" y="3273551"/>
            <a:ext cx="5212080" cy="493776"/>
          </a:xfrm>
          <a:prstGeom prst="rect">
            <a:avLst/>
          </a:prstGeom>
          <a:noFill/>
        </p:spPr>
        <p:txBody>
          <a:bodyPr wrap="square" anchor="ctr" lIns="18288" rIns="18288" tIns="18288" bIns="18288">
            <a:spAutoFit/>
          </a:bodyPr>
          <a:lstStyle/>
          <a:p>
            <a:pPr algn="l"/>
            <a:r>
              <a:rPr sz="1050" b="1" i="0">
                <a:solidFill>
                  <a:srgbClr val="1A1A1A"/>
                </a:solidFill>
                <a:latin typeface="Google Sans Flex"/>
              </a:rPr>
              <a:t>Final Product Link</a:t>
            </a:r>
          </a:p>
          <a:p>
            <a:pPr algn="l"/>
            <a:r>
              <a:rPr sz="1000" b="0" i="0">
                <a:solidFill>
                  <a:srgbClr val="1F3A7A"/>
                </a:solidFill>
                <a:latin typeface="Google Sans Flex"/>
                <a:hlinkClick r:id="rId6"/>
              </a:rPr>
              <a:t>agamya-82538920788.us-central1.run.app</a:t>
            </a:r>
          </a:p>
        </p:txBody>
      </p:sp>
      <p:sp>
        <p:nvSpPr>
          <p:cNvPr id="164" name="Rounded Rectangle 163"/>
          <p:cNvSpPr/>
          <p:nvPr/>
        </p:nvSpPr>
        <p:spPr>
          <a:xfrm>
            <a:off x="5989320" y="1325880"/>
            <a:ext cx="2880360" cy="1463040"/>
          </a:xfrm>
          <a:prstGeom prst="roundRect">
            <a:avLst>
              <a:gd name="adj" fmla="val 8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TextBox 164"/>
          <p:cNvSpPr txBox="1"/>
          <p:nvPr/>
        </p:nvSpPr>
        <p:spPr>
          <a:xfrm>
            <a:off x="6126480" y="1389888"/>
            <a:ext cx="2651760" cy="1371600"/>
          </a:xfrm>
          <a:prstGeom prst="rect">
            <a:avLst/>
          </a:prstGeom>
          <a:noFill/>
        </p:spPr>
        <p:txBody>
          <a:bodyPr wrap="square" anchor="t" lIns="18288" rIns="18288" tIns="18288" bIns="18288">
            <a:spAutoFit/>
          </a:bodyPr>
          <a:lstStyle/>
          <a:p>
            <a:pPr algn="l">
              <a:spcAft>
                <a:spcPts val="300"/>
              </a:spcAft>
            </a:pPr>
            <a:r>
              <a:rPr sz="1100" b="1" i="0">
                <a:solidFill>
                  <a:srgbClr val="B8860B"/>
                </a:solidFill>
                <a:latin typeface="Google Sans Flex"/>
              </a:rPr>
              <a:t>Judge sign-in</a:t>
            </a:r>
          </a:p>
          <a:p>
            <a:pPr algn="l">
              <a:spcAft>
                <a:spcPts val="300"/>
              </a:spcAft>
            </a:pPr>
            <a:r>
              <a:rPr sz="800" b="0" i="0">
                <a:solidFill>
                  <a:srgbClr val="CCCCCC"/>
                </a:solidFill>
                <a:latin typeface="Google Sans Flex"/>
              </a:rPr>
              <a:t>One click fills these in on the sign-in page.</a:t>
            </a:r>
          </a:p>
          <a:p>
            <a:pPr algn="l">
              <a:spcAft>
                <a:spcPts val="300"/>
              </a:spcAft>
            </a:pPr>
            <a:r>
              <a:rPr sz="850" b="1" i="0">
                <a:solidFill>
                  <a:srgbClr val="FFFFFF"/>
                </a:solidFill>
                <a:latin typeface="Google Sans Flex"/>
              </a:rPr>
              <a:t>Work: </a:t>
            </a:r>
            <a:r>
              <a:rPr sz="850" b="0" i="0">
                <a:solidFill>
                  <a:srgbClr val="FFFFFF"/>
                </a:solidFill>
                <a:latin typeface="Google Sans Flex"/>
              </a:rPr>
              <a:t>judge.work@agamya.example</a:t>
            </a:r>
          </a:p>
          <a:p>
            <a:pPr algn="l">
              <a:spcAft>
                <a:spcPts val="300"/>
              </a:spcAft>
            </a:pPr>
            <a:r>
              <a:rPr sz="850" b="1" i="0">
                <a:solidFill>
                  <a:srgbClr val="FFFFFF"/>
                </a:solidFill>
                <a:latin typeface="Google Sans Flex"/>
              </a:rPr>
              <a:t>Culture: </a:t>
            </a:r>
            <a:r>
              <a:rPr sz="850" b="0" i="0">
                <a:solidFill>
                  <a:srgbClr val="FFFFFF"/>
                </a:solidFill>
                <a:latin typeface="Google Sans Flex"/>
              </a:rPr>
              <a:t>judge.culture@agamya.example</a:t>
            </a:r>
          </a:p>
          <a:p>
            <a:pPr algn="l">
              <a:spcAft>
                <a:spcPts val="300"/>
              </a:spcAft>
            </a:pPr>
            <a:r>
              <a:rPr sz="850" b="1" i="0">
                <a:solidFill>
                  <a:srgbClr val="FFFFFF"/>
                </a:solidFill>
                <a:latin typeface="Google Sans Flex"/>
              </a:rPr>
              <a:t>Password: </a:t>
            </a:r>
            <a:r>
              <a:rPr sz="850" b="0" i="0">
                <a:solidFill>
                  <a:srgbClr val="FFFFFF"/>
                </a:solidFill>
                <a:latin typeface="Google Sans Flex"/>
              </a:rPr>
              <a:t>agamya-judges-2026</a:t>
            </a:r>
          </a:p>
        </p:txBody>
      </p:sp>
      <p:sp>
        <p:nvSpPr>
          <p:cNvPr id="166" name="TextBox 165"/>
          <p:cNvSpPr txBox="1"/>
          <p:nvPr/>
        </p:nvSpPr>
        <p:spPr>
          <a:xfrm>
            <a:off x="274320" y="3977639"/>
            <a:ext cx="8595360" cy="822960"/>
          </a:xfrm>
          <a:prstGeom prst="rect">
            <a:avLst/>
          </a:prstGeom>
          <a:noFill/>
        </p:spPr>
        <p:txBody>
          <a:bodyPr wrap="square" anchor="t" lIns="18288" rIns="18288" tIns="18288" bIns="18288">
            <a:spAutoFit/>
          </a:bodyPr>
          <a:lstStyle/>
          <a:p>
            <a:pPr algn="l">
              <a:spcAft>
                <a:spcPts val="400"/>
              </a:spcAft>
            </a:pPr>
            <a:r>
              <a:rPr sz="950" b="1" i="0">
                <a:solidFill>
                  <a:srgbClr val="1A1A1A"/>
                </a:solidFill>
                <a:latin typeface="Google Sans Flex"/>
              </a:rPr>
              <a:t>Start here: </a:t>
            </a:r>
            <a:r>
              <a:rPr sz="950" b="0" i="0">
                <a:solidFill>
                  <a:srgbClr val="5F6368"/>
                </a:solidFill>
                <a:latin typeface="Google Sans Flex"/>
              </a:rPr>
              <a:t>docs/JUDGES_GUIDE.md in the repository shows every feature, one screenshot at a time. </a:t>
            </a:r>
          </a:p>
          <a:p>
            <a:pPr algn="l">
              <a:spcAft>
                <a:spcPts val="400"/>
              </a:spcAft>
            </a:pPr>
            <a:r>
              <a:rPr sz="950" b="0" i="0">
                <a:solidFill>
                  <a:srgbClr val="5F6368"/>
                </a:solidFill>
                <a:latin typeface="Google Sans Flex"/>
              </a:rPr>
              <a:t>Use Chrome or Edge on a computer for screen sharing; on a phone, use the camera. Allow the microphone and wear headphones.</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TextBox 158"/>
          <p:cNvSpPr txBox="1"/>
          <p:nvPr/>
        </p:nvSpPr>
        <p:spPr>
          <a:xfrm>
            <a:off x="356616" y="758952"/>
            <a:ext cx="8778240" cy="411480"/>
          </a:xfrm>
          <a:prstGeom prst="rect">
            <a:avLst/>
          </a:prstGeom>
          <a:noFill/>
        </p:spPr>
        <p:txBody>
          <a:bodyPr wrap="square" anchor="t" lIns="18288" rIns="18288" tIns="18288" bIns="18288">
            <a:spAutoFit/>
          </a:bodyPr>
          <a:lstStyle/>
          <a:p>
            <a:pPr algn="l"/>
            <a:r>
              <a:rPr sz="1600" b="0" i="0">
                <a:solidFill>
                  <a:srgbClr val="1A1A1A"/>
                </a:solidFill>
                <a:latin typeface="Google Sans Flex Medium"/>
              </a:rPr>
              <a:t>References</a:t>
            </a:r>
          </a:p>
        </p:txBody>
      </p:sp>
      <p:sp>
        <p:nvSpPr>
          <p:cNvPr id="160" name="TextBox 159"/>
          <p:cNvSpPr txBox="1"/>
          <p:nvPr/>
        </p:nvSpPr>
        <p:spPr>
          <a:xfrm>
            <a:off x="274320" y="1325880"/>
            <a:ext cx="8595360" cy="3474720"/>
          </a:xfrm>
          <a:prstGeom prst="rect">
            <a:avLst/>
          </a:prstGeom>
          <a:noFill/>
        </p:spPr>
        <p:txBody>
          <a:bodyPr wrap="square" anchor="t" lIns="18288" rIns="18288" tIns="18288" bIns="18288">
            <a:spAutoFit/>
          </a:bodyPr>
          <a:lstStyle/>
          <a:p>
            <a:pPr algn="l">
              <a:spcAft>
                <a:spcPts val="700"/>
              </a:spcAft>
            </a:pPr>
            <a:r>
              <a:rPr sz="950" b="0" i="0">
                <a:solidFill>
                  <a:srgbClr val="1A1A1A"/>
                </a:solidFill>
                <a:latin typeface="Google Sans Flex"/>
              </a:rPr>
              <a:t>[1] The Daily Star (2026). What Bengal made and let others claim. thedailystar.net · Wikipedia: Dhaka muslin.</a:t>
            </a:r>
          </a:p>
          <a:p>
            <a:pPr algn="l">
              <a:spcAft>
                <a:spcPts val="700"/>
              </a:spcAft>
            </a:pPr>
            <a:r>
              <a:rPr sz="950" b="0" i="0">
                <a:solidFill>
                  <a:srgbClr val="1A1A1A"/>
                </a:solidFill>
                <a:latin typeface="Google Sans Flex"/>
              </a:rPr>
              <a:t>[2] Chakravartty, A. (6 Sep 2013). Survey tracks down only speaker of Majhi in India. Down To Earth · Wikipedia: Majhi language.</a:t>
            </a:r>
          </a:p>
          <a:p>
            <a:pPr algn="l">
              <a:spcAft>
                <a:spcPts val="700"/>
              </a:spcAft>
            </a:pPr>
            <a:r>
              <a:rPr sz="950" b="0" i="0">
                <a:solidFill>
                  <a:srgbClr val="1A1A1A"/>
                </a:solidFill>
                <a:latin typeface="Google Sans Flex"/>
              </a:rPr>
              <a:t>[3] Garland Magazine (2026). Kimono and lacquerware sales down up to 90 per cent as Japan's craft base narrows (data: Association for the Promotion of Traditional Craft Industries) · NPR/WFAE (29 Jul 2022). Japan's traditional crafts are struggling to survive the country's population decline.</a:t>
            </a:r>
          </a:p>
          <a:p>
            <a:pPr algn="l">
              <a:spcAft>
                <a:spcPts val="700"/>
              </a:spcAft>
            </a:pPr>
            <a:r>
              <a:rPr sz="950" b="0" i="0">
                <a:solidFill>
                  <a:srgbClr val="1A1A1A"/>
                </a:solidFill>
                <a:latin typeface="Google Sans Flex"/>
              </a:rPr>
              <a:t>[4] Panopto (2018). Workplace Knowledge and Productivity Report, via HR Dive.</a:t>
            </a:r>
          </a:p>
          <a:p>
            <a:pPr algn="l">
              <a:spcAft>
                <a:spcPts val="700"/>
              </a:spcAft>
            </a:pPr>
            <a:r>
              <a:rPr sz="950" b="0" i="0">
                <a:solidFill>
                  <a:srgbClr val="1A1A1A"/>
                </a:solidFill>
                <a:latin typeface="Google Sans Flex"/>
              </a:rPr>
              <a:t>[5] Polanyi, M. (1966). The Tacit Dimension.</a:t>
            </a:r>
          </a:p>
          <a:p>
            <a:pPr algn="l">
              <a:spcAft>
                <a:spcPts val="700"/>
              </a:spcAft>
            </a:pPr>
            <a:r>
              <a:rPr sz="950" b="0" i="0">
                <a:solidFill>
                  <a:srgbClr val="1A1A1A"/>
                </a:solidFill>
                <a:latin typeface="Google Sans Flex"/>
              </a:rPr>
              <a:t>[6] Zhou, L., Xu, C., Corso, J. (2018). YouCook2 dataset · ai4privacy. pii-masking-200k (Hugging Face).</a:t>
            </a:r>
          </a:p>
          <a:p>
            <a:pPr algn="l">
              <a:spcAft>
                <a:spcPts val="700"/>
              </a:spcAft>
            </a:pPr>
            <a:r>
              <a:rPr sz="950" b="0" i="0">
                <a:solidFill>
                  <a:srgbClr val="5F6368"/>
                </a:solidFill>
                <a:latin typeface="Google Sans Flex"/>
              </a:rPr>
              <a:t>Agamya's own results: docs/EVALUATION.md. Full URLs in these notes and in docs/submission/RESEARCH_LEDGER.md.</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4" name="Google Shape;164;p27"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