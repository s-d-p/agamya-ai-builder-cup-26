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Siddhi Pandirkar (team leader) and Sumit Jadhav.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Top: photos from real sessions (a JMeter knowledge transfer before maternity leave; a Satara recipe taught in Marathi; the learner practising with Moti). Bottom: the deployed prototype: live capture, Work Map, tutor stopping a mistake in Hindi.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- 177 of 177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Product demo video: https://drive.google.com/file/d/1isA43mz_f_-Gx9qeJrtaiFC_V8UoQdHU/view?usp=sharing</a:t>
            </a:r>
          </a:p>
          <a:p>
            <a:r>
              <a:t>Culture mode demo: https://drive.google.com/file/d/1t4CVmkqMKETwBMcNXEBytm_ynuz3XpXw/view?usp=drive_link</a:t>
            </a:r>
          </a:p>
          <a:p>
            <a:r>
              <a:t>Work mode demo: https://drive.google.com/file/d/1SbRbL3drKHkyTPlSQqNl1kiCey6IW5PT/view?usp=drive_link</a:t>
            </a:r>
          </a:p>
          <a:p>
            <a:r>
              <a:t>Learner demo: https://drive.google.com/file/d/1aeFphfi6Vuk_5EqHKEcrx_-tiUh6_yn7/view?usp=drive_link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9.jpg"/><Relationship Id="rId11" Type="http://schemas.openxmlformats.org/officeDocument/2006/relationships/image" Target="../media/image20.jpg"/><Relationship Id="rId12"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drive.google.com/file/d/1isA43mz_f_-Gx9qeJrtaiFC_V8UoQdHU/view?usp=sharing" TargetMode="External"/><Relationship Id="rId7" Type="http://schemas.openxmlformats.org/officeDocument/2006/relationships/hyperlink" Target="https://agamya-82538920788.us-central1.run.app" TargetMode="External"/><Relationship Id="rId8" Type="http://schemas.openxmlformats.org/officeDocument/2006/relationships/hyperlink" Target="https://drive.google.com/file/d/1t4CVmkqMKETwBMcNXEBytm_ynuz3XpXw/view?usp=drive_link" TargetMode="External"/><Relationship Id="rId9" Type="http://schemas.openxmlformats.org/officeDocument/2006/relationships/hyperlink" Target="https://drive.google.com/file/d/1SbRbL3drKHkyTPlSQqNl1kiCey6IW5PT/view?usp=drive_link" TargetMode="External"/><Relationship Id="rId10" Type="http://schemas.openxmlformats.org/officeDocument/2006/relationships/hyperlink" Target="https://drive.google.com/file/d/1aeFphfi6Vuk_5EqHKEcrx_-tiUh6_yn7/view?usp=drive_link"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member: Sumit Jadhav</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photo_real-work-expert.jpg_2.00x1.85.jpg"/>
          <p:cNvPicPr>
            <a:picLocks noChangeAspect="1"/>
          </p:cNvPicPr>
          <p:nvPr/>
        </p:nvPicPr>
        <p:blipFill>
          <a:blip r:embed="rId4"/>
          <a:stretch>
            <a:fillRect/>
          </a:stretch>
        </p:blipFill>
        <p:spPr>
          <a:xfrm>
            <a:off x="5120640" y="2999232"/>
            <a:ext cx="1828800" cy="1691640"/>
          </a:xfrm>
          <a:prstGeom prst="rect">
            <a:avLst/>
          </a:prstGeom>
        </p:spPr>
      </p:pic>
      <p:pic>
        <p:nvPicPr>
          <p:cNvPr id="80" name="Picture 79" descr="photo_real-culture-capture.jpg_2.00x1.85.jpg"/>
          <p:cNvPicPr>
            <a:picLocks noChangeAspect="1"/>
          </p:cNvPicPr>
          <p:nvPr/>
        </p:nvPicPr>
        <p:blipFill>
          <a:blip r:embed="rId5"/>
          <a:stretch>
            <a:fillRect/>
          </a:stretch>
        </p:blipFill>
        <p:spPr>
          <a:xfrm>
            <a:off x="7040880" y="2999232"/>
            <a:ext cx="1828800" cy="1691640"/>
          </a:xfrm>
          <a:prstGeom prst="rect">
            <a:avLst/>
          </a:prstGeom>
        </p:spPr>
      </p:pic>
      <p:sp>
        <p:nvSpPr>
          <p:cNvPr id="81" name="TextBox 80"/>
          <p:cNvSpPr txBox="1"/>
          <p:nvPr/>
        </p:nvSpPr>
        <p:spPr>
          <a:xfrm>
            <a:off x="5120640" y="4663440"/>
            <a:ext cx="3749039" cy="182880"/>
          </a:xfrm>
          <a:prstGeom prst="rect">
            <a:avLst/>
          </a:prstGeom>
          <a:noFill/>
        </p:spPr>
        <p:txBody>
          <a:bodyPr wrap="square" anchor="t" lIns="18288" rIns="18288" tIns="18288" bIns="18288">
            <a:spAutoFit/>
          </a:bodyPr>
          <a:lstStyle/>
          <a:p>
            <a:pPr algn="l"/>
            <a:r>
              <a:rPr sz="700" b="0" i="1">
                <a:solidFill>
                  <a:srgbClr val="5F6368"/>
                </a:solidFill>
                <a:latin typeface="Google Sans Flex"/>
              </a:rPr>
              <a:t>Real sessions: a JMeter handover before leave · a Satara recipe in Marathi</a:t>
            </a:r>
          </a:p>
        </p:txBody>
      </p:sp>
      <p:sp>
        <p:nvSpPr>
          <p:cNvPr id="82" name="TextBox 81"/>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photo_real-culture-capture.jpg_1.55x1.80.jpg"/>
          <p:cNvPicPr>
            <a:picLocks noChangeAspect="1"/>
          </p:cNvPicPr>
          <p:nvPr/>
        </p:nvPicPr>
        <p:blipFill>
          <a:blip r:embed="rId10"/>
          <a:stretch>
            <a:fillRect/>
          </a:stretch>
        </p:blipFill>
        <p:spPr>
          <a:xfrm>
            <a:off x="274320" y="3108960"/>
            <a:ext cx="1417320" cy="1645920"/>
          </a:xfrm>
          <a:prstGeom prst="rect">
            <a:avLst/>
          </a:prstGeom>
        </p:spPr>
      </p:pic>
      <p:pic>
        <p:nvPicPr>
          <p:cNvPr id="111" name="Picture 110" descr="photo_real-practice.jpg_2.40x1.80.jpg"/>
          <p:cNvPicPr>
            <a:picLocks noChangeAspect="1"/>
          </p:cNvPicPr>
          <p:nvPr/>
        </p:nvPicPr>
        <p:blipFill>
          <a:blip r:embed="rId11"/>
          <a:stretch>
            <a:fillRect/>
          </a:stretch>
        </p:blipFill>
        <p:spPr>
          <a:xfrm>
            <a:off x="1783080" y="3108960"/>
            <a:ext cx="2194560" cy="1645920"/>
          </a:xfrm>
          <a:prstGeom prst="rect">
            <a:avLst/>
          </a:prstGeom>
        </p:spPr>
      </p:pic>
      <p:pic>
        <p:nvPicPr>
          <p:cNvPr id="112" name="Picture 111" descr="photo_real-work-expert.jpg_1.55x1.80.jpg"/>
          <p:cNvPicPr>
            <a:picLocks noChangeAspect="1"/>
          </p:cNvPicPr>
          <p:nvPr/>
        </p:nvPicPr>
        <p:blipFill>
          <a:blip r:embed="rId12"/>
          <a:stretch>
            <a:fillRect/>
          </a:stretch>
        </p:blipFill>
        <p:spPr>
          <a:xfrm>
            <a:off x="4069080" y="3108960"/>
            <a:ext cx="1417320" cy="1645920"/>
          </a:xfrm>
          <a:prstGeom prst="rect">
            <a:avLst/>
          </a:prstGeom>
        </p:spPr>
      </p:pic>
      <p:sp>
        <p:nvSpPr>
          <p:cNvPr id="113" name="TextBox 112"/>
          <p:cNvSpPr txBox="1"/>
          <p:nvPr/>
        </p:nvSpPr>
        <p:spPr>
          <a:xfrm>
            <a:off x="274320" y="4773168"/>
            <a:ext cx="5486400" cy="182880"/>
          </a:xfrm>
          <a:prstGeom prst="rect">
            <a:avLst/>
          </a:prstGeom>
          <a:noFill/>
        </p:spPr>
        <p:txBody>
          <a:bodyPr wrap="square" anchor="t" lIns="18288" rIns="18288" tIns="18288" bIns="18288">
            <a:spAutoFit/>
          </a:bodyPr>
          <a:lstStyle/>
          <a:p>
            <a:pPr algn="l"/>
            <a:r>
              <a:rPr sz="750" b="0" i="1">
                <a:solidFill>
                  <a:srgbClr val="5F6368"/>
                </a:solidFill>
                <a:latin typeface="Google Sans Flex"/>
              </a:rPr>
              <a:t>In real use: Bharati records with Moti · Kiran practises with Moti · an expert shares her screen</a:t>
            </a:r>
          </a:p>
        </p:txBody>
      </p:sp>
      <p:sp>
        <p:nvSpPr>
          <p:cNvPr id="114" name="TextBox 113"/>
          <p:cNvSpPr txBox="1"/>
          <p:nvPr/>
        </p:nvSpPr>
        <p:spPr>
          <a:xfrm>
            <a:off x="5715000" y="3154680"/>
            <a:ext cx="315468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Not mock-ups</a:t>
            </a:r>
          </a:p>
          <a:p>
            <a:pPr algn="l">
              <a:spcAft>
                <a:spcPts val="400"/>
              </a:spcAft>
            </a:pPr>
            <a:r>
              <a:rPr sz="850" b="0" i="0">
                <a:solidFill>
                  <a:srgbClr val="5F6368"/>
                </a:solidFill>
                <a:latin typeface="Google Sans Flex"/>
              </a:rPr>
              <a:t>The top row is the deployed prototype. The photos are real sessions recorded on phones: a family recipe in Marathi, and a work handover on a laptop.</a:t>
            </a:r>
          </a:p>
          <a:p>
            <a:pPr algn="l">
              <a:spcAft>
                <a:spcPts val="400"/>
              </a:spcAft>
            </a:pPr>
            <a:r>
              <a:rPr sz="850" b="0" i="1">
                <a:solidFill>
                  <a:srgbClr val="1F3A7A"/>
                </a:solidFill>
                <a:latin typeface="Google Sans Flex"/>
              </a:rPr>
              <a:t>Tested on iPhone and Android.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photo_real-work-expert.jpg_3.00x1.62.jpg"/>
          <p:cNvPicPr>
            <a:picLocks noChangeAspect="1"/>
          </p:cNvPicPr>
          <p:nvPr/>
        </p:nvPicPr>
        <p:blipFill>
          <a:blip r:embed="rId5"/>
          <a:stretch>
            <a:fillRect/>
          </a:stretch>
        </p:blipFill>
        <p:spPr>
          <a:xfrm>
            <a:off x="274320" y="1207008"/>
            <a:ext cx="2743200" cy="1481328"/>
          </a:xfrm>
          <a:prstGeom prst="rect">
            <a:avLst/>
          </a:prstGeom>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an expert shares her screen</a:t>
            </a:r>
          </a:p>
        </p:txBody>
      </p:sp>
      <p:pic>
        <p:nvPicPr>
          <p:cNvPr id="130" name="Picture 129" descr="photo_real-culture-capture.jpg_3.00x1.62.jpg"/>
          <p:cNvPicPr>
            <a:picLocks noChangeAspect="1"/>
          </p:cNvPicPr>
          <p:nvPr/>
        </p:nvPicPr>
        <p:blipFill>
          <a:blip r:embed="rId6"/>
          <a:stretch>
            <a:fillRect/>
          </a:stretch>
        </p:blipFill>
        <p:spPr>
          <a:xfrm>
            <a:off x="3163824" y="1207008"/>
            <a:ext cx="2743200" cy="1481328"/>
          </a:xfrm>
          <a:prstGeom prst="rect">
            <a:avLst/>
          </a:prstGeom>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asks in Marathi</a:t>
            </a:r>
          </a:p>
        </p:txBody>
      </p:sp>
      <p:pic>
        <p:nvPicPr>
          <p:cNvPr id="132" name="Picture 131" descr="photo_real-practice.jpg_3.00x1.62.jpg"/>
          <p:cNvPicPr>
            <a:picLocks noChangeAspect="1"/>
          </p:cNvPicPr>
          <p:nvPr/>
        </p:nvPicPr>
        <p:blipFill>
          <a:blip r:embed="rId7"/>
          <a:stretch>
            <a:fillRect/>
          </a:stretch>
        </p:blipFill>
        <p:spPr>
          <a:xfrm>
            <a:off x="6053328" y="1207008"/>
            <a:ext cx="2743200" cy="1481328"/>
          </a:xfrm>
          <a:prstGeom prst="rect">
            <a:avLst/>
          </a:prstGeom>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Kiran practises; Moti tutors</a:t>
            </a:r>
          </a:p>
        </p:txBody>
      </p:sp>
      <p:pic>
        <p:nvPicPr>
          <p:cNvPr id="134" name="Picture 133" descr="05-live-capture.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6" name="Picture 135" descr="07-work-map.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8" name="Picture 137" descr="13-tutor-stops.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177 / 177</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hlinkClick r:id="rId6"/>
              </a:rPr>
              <a:t>Product demo (Google Drive)</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7"/>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Rounded Rectangle 162"/>
          <p:cNvSpPr/>
          <p:nvPr/>
        </p:nvSpPr>
        <p:spPr>
          <a:xfrm>
            <a:off x="5989320" y="2926080"/>
            <a:ext cx="2880360" cy="14173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6108192" y="2971800"/>
            <a:ext cx="2651760" cy="1325880"/>
          </a:xfrm>
          <a:prstGeom prst="rect">
            <a:avLst/>
          </a:prstGeom>
          <a:noFill/>
        </p:spPr>
        <p:txBody>
          <a:bodyPr wrap="square" anchor="t" lIns="18288" rIns="18288" tIns="18288" bIns="18288">
            <a:spAutoFit/>
          </a:bodyPr>
          <a:lstStyle/>
          <a:p>
            <a:pPr algn="l">
              <a:spcAft>
                <a:spcPts val="300"/>
              </a:spcAft>
            </a:pPr>
            <a:r>
              <a:rPr sz="1000" b="1" i="0">
                <a:solidFill>
                  <a:srgbClr val="1A1A1A"/>
                </a:solidFill>
                <a:latin typeface="Google Sans Flex"/>
              </a:rPr>
              <a:t>Full, uncut demos (Google Drive)</a:t>
            </a:r>
          </a:p>
          <a:p>
            <a:pPr algn="l">
              <a:spcAft>
                <a:spcPts val="300"/>
              </a:spcAft>
            </a:pPr>
            <a:r>
              <a:rPr sz="900" b="0" i="0">
                <a:solidFill>
                  <a:srgbClr val="1F3A7A"/>
                </a:solidFill>
                <a:latin typeface="Google Sans Flex"/>
                <a:hlinkClick r:id="rId8"/>
              </a:rPr>
              <a:t>Culture mode demo</a:t>
            </a:r>
          </a:p>
          <a:p>
            <a:pPr algn="l">
              <a:spcAft>
                <a:spcPts val="300"/>
              </a:spcAft>
            </a:pPr>
            <a:r>
              <a:rPr sz="900" b="0" i="0">
                <a:solidFill>
                  <a:srgbClr val="1F3A7A"/>
                </a:solidFill>
                <a:latin typeface="Google Sans Flex"/>
                <a:hlinkClick r:id="rId9"/>
              </a:rPr>
              <a:t>Work mode demo</a:t>
            </a:r>
          </a:p>
          <a:p>
            <a:pPr algn="l">
              <a:spcAft>
                <a:spcPts val="300"/>
              </a:spcAft>
            </a:pPr>
            <a:r>
              <a:rPr sz="900" b="0" i="0">
                <a:solidFill>
                  <a:srgbClr val="1F3A7A"/>
                </a:solidFill>
                <a:latin typeface="Google Sans Flex"/>
                <a:hlinkClick r:id="rId10"/>
              </a:rPr>
              <a:t>Learner demo</a:t>
            </a:r>
          </a:p>
          <a:p>
            <a:pPr algn="l">
              <a:spcAft>
                <a:spcPts val="300"/>
              </a:spcAft>
            </a:pPr>
            <a:r>
              <a:rPr sz="750" b="0" i="1">
                <a:solidFill>
                  <a:srgbClr val="5F6368"/>
                </a:solidFill>
                <a:latin typeface="Google Sans Flex"/>
              </a:rPr>
              <a:t>Each is the raw session with subtitles, nothing cut.</a:t>
            </a:r>
          </a:p>
        </p:txBody>
      </p:sp>
      <p:sp>
        <p:nvSpPr>
          <p:cNvPr id="165" name="TextBox 164"/>
          <p:cNvSpPr txBox="1"/>
          <p:nvPr/>
        </p:nvSpPr>
        <p:spPr>
          <a:xfrm>
            <a:off x="274320" y="3657600"/>
            <a:ext cx="548640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